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527">
          <p15:clr>
            <a:srgbClr val="A4A3A4"/>
          </p15:clr>
        </p15:guide>
        <p15:guide id="3" orient="horz" pos="3974">
          <p15:clr>
            <a:srgbClr val="A4A3A4"/>
          </p15:clr>
        </p15:guide>
        <p15:guide id="4" pos="3120">
          <p15:clr>
            <a:srgbClr val="A4A3A4"/>
          </p15:clr>
        </p15:guide>
        <p15:guide id="5" pos="172">
          <p15:clr>
            <a:srgbClr val="A4A3A4"/>
          </p15:clr>
        </p15:guide>
        <p15:guide id="6" pos="60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396" autoAdjust="0"/>
    <p:restoredTop sz="94660"/>
  </p:normalViewPr>
  <p:slideViewPr>
    <p:cSldViewPr showGuides="1">
      <p:cViewPr varScale="1">
        <p:scale>
          <a:sx n="113" d="100"/>
          <a:sy n="113" d="100"/>
        </p:scale>
        <p:origin x="1584" y="108"/>
      </p:cViewPr>
      <p:guideLst>
        <p:guide orient="horz" pos="2160"/>
        <p:guide orient="horz" pos="527"/>
        <p:guide orient="horz" pos="3974"/>
        <p:guide pos="3120"/>
        <p:guide pos="172"/>
        <p:guide pos="60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0865B8-6288-4184-A9BF-A3164421EED3}" type="datetimeFigureOut">
              <a:rPr lang="ko-KR" altLang="en-US" smtClean="0"/>
              <a:pPr/>
              <a:t>2026-10-29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FA01B-4B59-42FA-83E5-06C4C291362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8258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717800" y="512763"/>
            <a:ext cx="37084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다음으로 프로그램 개발 배경에 대해 설명드리겠습니다. 본 프로그램은 기존 패킹 최적화 업무의 비효율성을 개선하기 위해 개발되었습니다. 반복적인 수작업을 자동화하고, 표준화된 프로세스를 제공하여 업무 효율을 높이는 것을 목표로 하였습니다. (이 부분은 실제 개발 배경 내용으로 대체해 주시기 바랍니다.)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717800" y="512763"/>
            <a:ext cx="37084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프로그램 접속 방법을 설명드리겠습니다. 본 프로그램은 웹 기반으로 개발되어 별도 설치가 필요 없습니다. 제공해 드린 URL을 클릭하시면 브라우저에서 프로그램이 바로 실행됩니다. 접속 후 첫 화면에서 로그인 또는 바로 사용이 가능합니다. 크롬이나 엣지 브라우저 사용을 권장드립니다.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717800" y="512763"/>
            <a:ext cx="37084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사용 가이드 첫 번째로 프로그램 시작 화면에 대해 설명드리겠습니다. 접속 후 가장 먼저 보이는 화면으로, 좌측 영역에 캡처 이미지를 삽입하시고 우측 설명란에 각 버튼과 메뉴의 기능을 설명해 주시면 됩니다. 발표 시 도형이나 화살표로 주요 기능을 직접 강조하시면 더욱 효과적입니다.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717800" y="512763"/>
            <a:ext cx="37084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사용 가이드 첫 번째로 프로그램 시작 화면에 대해 설명드리겠습니다. 접속 후 가장 먼저 보이는 화면으로, 좌측 영역에 캡처 이미지를 삽입하시고 우측 설명란에 각 버튼과 메뉴의 기능을 설명해 주시면 됩니다. 발표 시 도형이나 화살표로 주요 기능을 직접 강조하시면 더욱 효과적입니다.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652880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717800" y="512763"/>
            <a:ext cx="37084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두 번째 사용 가이드로 프로그램의 주요 기능에 대해 설명드리겠습니다. 실제 기능 실행 화면을 캡처하여 좌측에 삽입하시고, 우측 설명란에 기능 사용 순서와 주의점을 작성해 주시면 됩니다. 단계별로 설명하시면 청중이 이해하기 쉽습니다.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717800" y="512763"/>
            <a:ext cx="37084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마지막 사용 가이드로 실행 결과 확인과 활용 방법에 대해 설명드리겠습니다. 결과 화면을 캡처하여 좌측에 삽입하시고, 결과 해석 방법과 리포트 생성, 데이터 내보내기 등 활용 방안을 우측 설명란에 작성해 주시면 됩니다.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717800" y="512763"/>
            <a:ext cx="37084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마지막으로 사용상 주의사항과 장애 대처 방법에 대해 안내드리겠습니다. 프로그램 사용 중 발생할 수 있는 일반적인 문제 상황과 그에 따른 대처 방법을 안내해 드립니다. 만약 매뉴얼에 없는 문제가 발생하거나 해결이 어려운 경우, 담당자에게 문의해 주시면 신속하게 지원해 드리겠습니다. 이상으로 발표를 마치겠습니다. 감사합니다.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91" descr="SL_ppt_C"/>
          <p:cNvPicPr>
            <a:picLocks noChangeArrowheads="1"/>
          </p:cNvPicPr>
          <p:nvPr userDrawn="1"/>
        </p:nvPicPr>
        <p:blipFill>
          <a:blip r:embed="rId2" cstate="print"/>
          <a:srcRect b="1047"/>
          <a:stretch>
            <a:fillRect/>
          </a:stretch>
        </p:blipFill>
        <p:spPr bwMode="auto">
          <a:xfrm>
            <a:off x="1" y="0"/>
            <a:ext cx="99036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2000" y="1584000"/>
            <a:ext cx="9396000" cy="749812"/>
          </a:xfrm>
        </p:spPr>
        <p:txBody>
          <a:bodyPr lIns="36000" rIns="36000"/>
          <a:lstStyle>
            <a:lvl1pPr algn="ctr">
              <a:defRPr sz="4400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40000" y="3600000"/>
            <a:ext cx="7020000" cy="442035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pic>
        <p:nvPicPr>
          <p:cNvPr id="9" name="Picture 57" descr="SL심벌"/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640001" y="5940000"/>
            <a:ext cx="979487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 userDrawn="1"/>
        </p:nvSpPr>
        <p:spPr>
          <a:xfrm>
            <a:off x="252000" y="6048000"/>
            <a:ext cx="7560000" cy="3804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Arial" pitchFamily="34" charset="0"/>
              </a:rPr>
              <a:t>This report is solely for the use of client personnel.  No part of it may be circulated, quoted, or reproduced for distribution </a:t>
            </a:r>
          </a:p>
          <a:p>
            <a:r>
              <a:rPr lang="en-US" altLang="ko-KR" sz="1000" dirty="0"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Arial" pitchFamily="34" charset="0"/>
              </a:rPr>
              <a:t>without prior written approval from SL Corporation.</a:t>
            </a:r>
            <a:endParaRPr lang="ko-KR" altLang="en-US" sz="1000" dirty="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  <a:cs typeface="Arial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2000" y="180003"/>
            <a:ext cx="9396000" cy="411257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 (페이지 번호 삭제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직사각형 3"/>
          <p:cNvSpPr/>
          <p:nvPr userDrawn="1"/>
        </p:nvSpPr>
        <p:spPr>
          <a:xfrm>
            <a:off x="6552000" y="6552000"/>
            <a:ext cx="1080000" cy="25200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9300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252000" y="180003"/>
            <a:ext cx="9396000" cy="411257"/>
          </a:xfrm>
          <a:prstGeom prst="rect">
            <a:avLst/>
          </a:prstGeom>
        </p:spPr>
        <p:txBody>
          <a:bodyPr vert="horz" lIns="36000" tIns="36000" rIns="36000" bIns="36000" rtlCol="0" anchor="t" anchorCtr="0">
            <a:sp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52000" y="792000"/>
            <a:ext cx="9396000" cy="288147"/>
          </a:xfrm>
          <a:prstGeom prst="rect">
            <a:avLst/>
          </a:prstGeom>
        </p:spPr>
        <p:txBody>
          <a:bodyPr vert="horz" lIns="108000" tIns="36000" rIns="108000" bIns="36000" rtlCol="0">
            <a:sp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6552000" y="6552000"/>
            <a:ext cx="1170000" cy="252000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679B8-E508-496F-9374-50C23453982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/ 00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252000" y="612000"/>
            <a:ext cx="939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271727" y="6516000"/>
            <a:ext cx="936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바닥글 개체 틀 4"/>
          <p:cNvSpPr txBox="1">
            <a:spLocks/>
          </p:cNvSpPr>
          <p:nvPr userDrawn="1"/>
        </p:nvSpPr>
        <p:spPr>
          <a:xfrm>
            <a:off x="7308000" y="6552000"/>
            <a:ext cx="2340000" cy="252000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신뢰성연구센터</a:t>
            </a:r>
          </a:p>
        </p:txBody>
      </p:sp>
      <p:pic>
        <p:nvPicPr>
          <p:cNvPr id="12" name="Picture 18" descr="SL심벌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144000" y="180000"/>
            <a:ext cx="490042" cy="2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바닥글 개체 틀 4"/>
          <p:cNvSpPr txBox="1">
            <a:spLocks/>
          </p:cNvSpPr>
          <p:nvPr userDrawn="1"/>
        </p:nvSpPr>
        <p:spPr>
          <a:xfrm>
            <a:off x="251999" y="6534000"/>
            <a:ext cx="2558961" cy="318924"/>
          </a:xfrm>
          <a:prstGeom prst="rect">
            <a:avLst/>
          </a:prstGeom>
        </p:spPr>
        <p:txBody>
          <a:bodyPr vert="horz" wrap="none" lIns="36000" tIns="36000" rIns="36000" bIns="36000" rtlCol="0" anchor="t" anchorCtr="0">
            <a:spAutoFit/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Arial" pitchFamily="34" charset="0"/>
              </a:rPr>
              <a:t>기술은 신뢰성 확보로 완성된다</a:t>
            </a:r>
            <a:r>
              <a:rPr kumimoji="0" lang="en-US" altLang="ko-KR" sz="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Arial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Arial" pitchFamily="34" charset="0"/>
              </a:rPr>
              <a:t>Technology is completed by assurance of Reliability.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1" hangingPunct="1">
        <a:spcBef>
          <a:spcPct val="0"/>
        </a:spcBef>
        <a:buNone/>
        <a:defRPr sz="2200" b="1" kern="1200">
          <a:solidFill>
            <a:schemeClr val="tx1"/>
          </a:solidFill>
          <a:latin typeface="현대하모니 M" panose="02020603020101020101" pitchFamily="18" charset="-127"/>
          <a:ea typeface="현대하모니 M" panose="02020603020101020101" pitchFamily="18" charset="-127"/>
          <a:cs typeface="+mj-cs"/>
        </a:defRPr>
      </a:lvl1pPr>
    </p:titleStyle>
    <p:bodyStyle>
      <a:lvl1pPr marL="0" indent="0" algn="l" defTabSz="914400" rtl="0" eaLnBrk="1" latinLnBrk="1" hangingPunct="1">
        <a:spcBef>
          <a:spcPts val="0"/>
        </a:spcBef>
        <a:buClr>
          <a:schemeClr val="tx1"/>
        </a:buClr>
        <a:buFontTx/>
        <a:buNone/>
        <a:defRPr sz="1400" kern="1200">
          <a:solidFill>
            <a:schemeClr val="tx1"/>
          </a:solidFill>
          <a:latin typeface="현대하모니 M" panose="02020603020101020101" pitchFamily="18" charset="-127"/>
          <a:ea typeface="현대하모니 M" panose="02020603020101020101" pitchFamily="18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lhyeongyujeon-packingoptimizer-app-zavkwz.streamlit.app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tm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2000" y="1584000"/>
            <a:ext cx="9396000" cy="749812"/>
          </a:xfrm>
        </p:spPr>
        <p:txBody>
          <a:bodyPr/>
          <a:lstStyle/>
          <a:p>
            <a:r>
              <a:rPr lang="en-US" altLang="ko-KR" dirty="0"/>
              <a:t>Optimizing</a:t>
            </a:r>
            <a:r>
              <a:rPr lang="ko-KR" altLang="en-US" dirty="0"/>
              <a:t> </a:t>
            </a:r>
            <a:r>
              <a:rPr lang="en-US" altLang="ko-KR" dirty="0"/>
              <a:t>Packing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17409" y="3865284"/>
            <a:ext cx="7020000" cy="318924"/>
          </a:xfrm>
        </p:spPr>
        <p:txBody>
          <a:bodyPr/>
          <a:lstStyle/>
          <a:p>
            <a:r>
              <a:rPr lang="en-US" altLang="ko-KR" sz="1600" dirty="0"/>
              <a:t>2026.10.29</a:t>
            </a:r>
            <a:endParaRPr lang="ko-KR" altLang="en-US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1787409" y="4257092"/>
            <a:ext cx="6480000" cy="288147"/>
          </a:xfrm>
          <a:prstGeom prst="rect">
            <a:avLst/>
          </a:prstGeom>
          <a:noFill/>
        </p:spPr>
        <p:txBody>
          <a:bodyPr wrap="square" lIns="108000" tIns="36000" rIns="108000" bIns="36000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신뢰성연구센터 </a:t>
            </a:r>
            <a:r>
              <a:rPr lang="ko-KR" altLang="en-US" sz="1400" dirty="0" err="1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시작팀</a:t>
            </a:r>
            <a:endParaRPr lang="ko-KR" altLang="en-US" sz="1400" dirty="0">
              <a:solidFill>
                <a:schemeClr val="bg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47110" y="332656"/>
            <a:ext cx="3091628" cy="272758"/>
          </a:xfrm>
          <a:prstGeom prst="rect">
            <a:avLst/>
          </a:prstGeom>
          <a:noFill/>
        </p:spPr>
        <p:txBody>
          <a:bodyPr wrap="square" lIns="108000" tIns="36000" rIns="108000" bIns="36000" rtlCol="0">
            <a:spAutoFit/>
          </a:bodyPr>
          <a:lstStyle/>
          <a:p>
            <a:pPr algn="r"/>
            <a:r>
              <a:rPr lang="ko-KR" altLang="en-US" sz="1300" dirty="0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□ 의사결정    □보고    ■ 정보공유</a:t>
            </a:r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515E8F30-2C42-42B1-8AED-3A23FB28DC6A}"/>
              </a:ext>
            </a:extLst>
          </p:cNvPr>
          <p:cNvSpPr txBox="1"/>
          <p:nvPr/>
        </p:nvSpPr>
        <p:spPr>
          <a:xfrm>
            <a:off x="-52591" y="2465819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FFFFFF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사용</a:t>
            </a:r>
            <a:r>
              <a:rPr lang="en-US" sz="3200" b="1" i="0" u="none" strike="noStrike" dirty="0">
                <a:solidFill>
                  <a:srgbClr val="FFFFFF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 </a:t>
            </a:r>
            <a:r>
              <a:rPr lang="en-US" sz="3200" b="1" i="0" u="none" strike="noStrike" dirty="0" err="1">
                <a:solidFill>
                  <a:srgbClr val="FFFFFF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가이드</a:t>
            </a:r>
            <a:endParaRPr lang="en-US" sz="1100" dirty="0">
              <a:ea typeface="현대하모니 M" panose="02020603020101020101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14">
            <a:extLst>
              <a:ext uri="{FF2B5EF4-FFF2-40B4-BE49-F238E27FC236}">
                <a16:creationId xmlns:a16="http://schemas.microsoft.com/office/drawing/2014/main" id="{AC1F08B9-476A-49B4-A5AE-E2F6F72D9130}"/>
              </a:ext>
            </a:extLst>
          </p:cNvPr>
          <p:cNvSpPr/>
          <p:nvPr/>
        </p:nvSpPr>
        <p:spPr>
          <a:xfrm>
            <a:off x="4122901" y="3850844"/>
            <a:ext cx="5483577" cy="2412268"/>
          </a:xfrm>
          <a:prstGeom prst="roundRect">
            <a:avLst>
              <a:gd name="adj" fmla="val 3437"/>
            </a:avLst>
          </a:prstGeom>
          <a:solidFill>
            <a:srgbClr val="F0F4F8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60000" rIns="100000" bIns="60000" rtlCol="0" anchor="ctr"/>
          <a:lstStyle/>
          <a:p>
            <a:pPr algn="ctr">
              <a:spcAft>
                <a:spcPts val="300"/>
              </a:spcAft>
            </a:pPr>
            <a:endParaRPr sz="900" b="0" dirty="0">
              <a:solidFill>
                <a:srgbClr val="666666"/>
              </a:solidFill>
              <a:latin typeface="현대하모니 M"/>
            </a:endParaRPr>
          </a:p>
        </p:txBody>
      </p:sp>
      <p:sp>
        <p:nvSpPr>
          <p:cNvPr id="16" name="Rounded Rectangle 14">
            <a:extLst>
              <a:ext uri="{FF2B5EF4-FFF2-40B4-BE49-F238E27FC236}">
                <a16:creationId xmlns:a16="http://schemas.microsoft.com/office/drawing/2014/main" id="{7A4B244C-87B0-42B4-AC6B-CC4968CA2918}"/>
              </a:ext>
            </a:extLst>
          </p:cNvPr>
          <p:cNvSpPr/>
          <p:nvPr/>
        </p:nvSpPr>
        <p:spPr>
          <a:xfrm>
            <a:off x="299521" y="3850844"/>
            <a:ext cx="3609363" cy="2412268"/>
          </a:xfrm>
          <a:prstGeom prst="roundRect">
            <a:avLst>
              <a:gd name="adj" fmla="val 3437"/>
            </a:avLst>
          </a:prstGeom>
          <a:solidFill>
            <a:srgbClr val="F0F4F8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60000" rIns="100000" bIns="60000" rtlCol="0" anchor="ctr"/>
          <a:lstStyle/>
          <a:p>
            <a:pPr algn="ctr">
              <a:spcAft>
                <a:spcPts val="300"/>
              </a:spcAft>
            </a:pPr>
            <a:endParaRPr sz="900" b="0" dirty="0">
              <a:solidFill>
                <a:srgbClr val="666666"/>
              </a:solidFill>
              <a:latin typeface="현대하모니 M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308484" y="116632"/>
            <a:ext cx="8048625" cy="4540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113" b="1" dirty="0" err="1">
                <a:solidFill>
                  <a:srgbClr val="141414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프로그램</a:t>
            </a:r>
            <a:r>
              <a:rPr lang="en-US" sz="2113" b="1" dirty="0">
                <a:solidFill>
                  <a:srgbClr val="141414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 </a:t>
            </a:r>
            <a:r>
              <a:rPr lang="en-US" sz="2113" b="1" dirty="0" err="1">
                <a:solidFill>
                  <a:srgbClr val="141414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개발</a:t>
            </a:r>
            <a:r>
              <a:rPr lang="en-US" sz="2113" b="1" dirty="0">
                <a:solidFill>
                  <a:srgbClr val="141414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 </a:t>
            </a:r>
            <a:r>
              <a:rPr lang="en-US" sz="2113" b="1" dirty="0" err="1">
                <a:solidFill>
                  <a:srgbClr val="141414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배경</a:t>
            </a:r>
            <a:endParaRPr lang="en-US" sz="894" dirty="0">
              <a:ea typeface="현대하모니 M" panose="02020603020101020101"/>
            </a:endParaRPr>
          </a:p>
        </p:txBody>
      </p:sp>
      <p:sp>
        <p:nvSpPr>
          <p:cNvPr id="9" name="Rounded Rectangle 10">
            <a:extLst>
              <a:ext uri="{FF2B5EF4-FFF2-40B4-BE49-F238E27FC236}">
                <a16:creationId xmlns:a16="http://schemas.microsoft.com/office/drawing/2014/main" id="{E940A989-5DC5-4963-83BE-BFF5ADE26156}"/>
              </a:ext>
            </a:extLst>
          </p:cNvPr>
          <p:cNvSpPr/>
          <p:nvPr/>
        </p:nvSpPr>
        <p:spPr>
          <a:xfrm>
            <a:off x="308483" y="764704"/>
            <a:ext cx="9297995" cy="2892093"/>
          </a:xfrm>
          <a:prstGeom prst="roundRect">
            <a:avLst>
              <a:gd name="adj" fmla="val 3000"/>
            </a:avLst>
          </a:prstGeom>
          <a:solidFill>
            <a:srgbClr val="F7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160000" rIns="220000" bIns="140000" rtlCol="0" anchor="ctr"/>
          <a:lstStyle/>
          <a:p>
            <a:pPr>
              <a:spcAft>
                <a:spcPts val="800"/>
              </a:spcAft>
            </a:pPr>
            <a:endParaRPr sz="1200" b="1" dirty="0">
              <a:solidFill>
                <a:srgbClr val="1E4E8C"/>
              </a:solidFill>
              <a:latin typeface="현대하모니 M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0A1F15-1F91-4452-9F2C-82FABD0DD73C}"/>
              </a:ext>
            </a:extLst>
          </p:cNvPr>
          <p:cNvSpPr txBox="1"/>
          <p:nvPr/>
        </p:nvSpPr>
        <p:spPr>
          <a:xfrm>
            <a:off x="4332796" y="3994860"/>
            <a:ext cx="1476164" cy="26161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 dirty="0">
                <a:solidFill>
                  <a:srgbClr val="222222"/>
                </a:solidFill>
                <a:latin typeface="현대하모니 M"/>
              </a:rPr>
              <a:t>3. </a:t>
            </a:r>
            <a:r>
              <a:rPr lang="ko-KR" altLang="en-US" sz="1400" b="1" dirty="0">
                <a:solidFill>
                  <a:srgbClr val="222222"/>
                </a:solidFill>
                <a:latin typeface="현대하모니 M"/>
              </a:rPr>
              <a:t>기대 효과</a:t>
            </a:r>
            <a:endParaRPr sz="1400" b="1" dirty="0">
              <a:solidFill>
                <a:srgbClr val="222222"/>
              </a:solidFill>
              <a:latin typeface="현대하모니 M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153E83-7739-45B1-AD54-8372979DD646}"/>
              </a:ext>
            </a:extLst>
          </p:cNvPr>
          <p:cNvSpPr txBox="1"/>
          <p:nvPr/>
        </p:nvSpPr>
        <p:spPr>
          <a:xfrm>
            <a:off x="4332796" y="4284801"/>
            <a:ext cx="4741673" cy="1929622"/>
          </a:xfrm>
          <a:prstGeom prst="rect">
            <a:avLst/>
          </a:prstGeom>
          <a:noFill/>
        </p:spPr>
        <p:txBody>
          <a:bodyPr wrap="square" lIns="108000" tIns="36000" rIns="108000" bIns="360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ko-KR" sz="1200" dirty="0">
                <a:solidFill>
                  <a:srgbClr val="333333"/>
                </a:solidFill>
                <a:latin typeface="현대하모니 M"/>
              </a:rPr>
              <a:t>· </a:t>
            </a:r>
            <a:r>
              <a:rPr lang="ko-KR" altLang="en-US" sz="1200" dirty="0">
                <a:solidFill>
                  <a:srgbClr val="333333"/>
                </a:solidFill>
                <a:latin typeface="현대하모니 M"/>
              </a:rPr>
              <a:t>정보 입력이 간편하고</a:t>
            </a:r>
            <a:r>
              <a:rPr lang="en-US" altLang="ko-KR" sz="1200" dirty="0">
                <a:solidFill>
                  <a:srgbClr val="333333"/>
                </a:solidFill>
                <a:latin typeface="현대하모니 M"/>
              </a:rPr>
              <a:t>, AI </a:t>
            </a:r>
            <a:r>
              <a:rPr lang="ko-KR" altLang="en-US" sz="1200" dirty="0">
                <a:solidFill>
                  <a:srgbClr val="333333"/>
                </a:solidFill>
                <a:latin typeface="현대하모니 M"/>
              </a:rPr>
              <a:t>기반 계산이 아니므로 </a:t>
            </a:r>
            <a:r>
              <a:rPr lang="ko-KR" altLang="en-US" sz="1200" b="1" dirty="0">
                <a:solidFill>
                  <a:srgbClr val="1E4E8C"/>
                </a:solidFill>
              </a:rPr>
              <a:t>보안 문제 감소</a:t>
            </a:r>
            <a:endParaRPr lang="en-US" altLang="ko-KR" sz="1200" b="1" dirty="0">
              <a:solidFill>
                <a:srgbClr val="1E4E8C"/>
              </a:solidFill>
            </a:endParaRPr>
          </a:p>
          <a:p>
            <a:pPr>
              <a:spcAft>
                <a:spcPts val="800"/>
              </a:spcAft>
            </a:pPr>
            <a:endParaRPr lang="ko-KR" altLang="en-US" sz="1200" b="1" dirty="0">
              <a:solidFill>
                <a:srgbClr val="1E4E8C"/>
              </a:solidFill>
            </a:endParaRPr>
          </a:p>
          <a:p>
            <a:pPr>
              <a:spcAft>
                <a:spcPts val="700"/>
              </a:spcAft>
            </a:pPr>
            <a:r>
              <a:rPr lang="en-US" altLang="ko-KR" sz="1200" dirty="0">
                <a:solidFill>
                  <a:srgbClr val="333333"/>
                </a:solidFill>
                <a:latin typeface="현대하모니 M"/>
              </a:rPr>
              <a:t>· </a:t>
            </a:r>
            <a:r>
              <a:rPr lang="ko-KR" altLang="en-US" sz="1200" dirty="0">
                <a:solidFill>
                  <a:srgbClr val="333333"/>
                </a:solidFill>
                <a:latin typeface="현대하모니 M"/>
              </a:rPr>
              <a:t>적재 상태 시각화 및 이미지 출력으로 담당자 </a:t>
            </a:r>
            <a:r>
              <a:rPr lang="ko-KR" altLang="en-US" sz="1200" b="1" dirty="0">
                <a:solidFill>
                  <a:srgbClr val="1E4E8C"/>
                </a:solidFill>
              </a:rPr>
              <a:t>확인</a:t>
            </a:r>
            <a:r>
              <a:rPr lang="en-US" altLang="ko-KR" sz="1200" b="1" dirty="0">
                <a:solidFill>
                  <a:srgbClr val="1E4E8C"/>
                </a:solidFill>
              </a:rPr>
              <a:t>·</a:t>
            </a:r>
            <a:r>
              <a:rPr lang="ko-KR" altLang="en-US" sz="1200" b="1" dirty="0">
                <a:solidFill>
                  <a:srgbClr val="1E4E8C"/>
                </a:solidFill>
              </a:rPr>
              <a:t>공유 용이</a:t>
            </a:r>
            <a:endParaRPr lang="en-US" altLang="ko-KR" sz="1200" b="1" dirty="0">
              <a:solidFill>
                <a:srgbClr val="1E4E8C"/>
              </a:solidFill>
            </a:endParaRPr>
          </a:p>
          <a:p>
            <a:pPr>
              <a:spcAft>
                <a:spcPts val="700"/>
              </a:spcAft>
            </a:pPr>
            <a:endParaRPr lang="ko-KR" altLang="en-US" sz="1200" b="1" dirty="0">
              <a:solidFill>
                <a:srgbClr val="1E4E8C"/>
              </a:solidFill>
            </a:endParaRPr>
          </a:p>
          <a:p>
            <a:pPr>
              <a:spcAft>
                <a:spcPts val="700"/>
              </a:spcAft>
            </a:pPr>
            <a:r>
              <a:rPr lang="en-US" altLang="ko-KR" sz="1200" dirty="0">
                <a:solidFill>
                  <a:srgbClr val="333333"/>
                </a:solidFill>
                <a:latin typeface="현대하모니 M"/>
              </a:rPr>
              <a:t>· </a:t>
            </a:r>
            <a:r>
              <a:rPr lang="ko-KR" altLang="en-US" sz="1200" dirty="0">
                <a:solidFill>
                  <a:srgbClr val="333333"/>
                </a:solidFill>
                <a:latin typeface="현대하모니 M"/>
              </a:rPr>
              <a:t>해외 </a:t>
            </a:r>
            <a:r>
              <a:rPr lang="ko-KR" altLang="en-US" sz="1200" dirty="0" err="1">
                <a:solidFill>
                  <a:srgbClr val="333333"/>
                </a:solidFill>
                <a:latin typeface="현대하모니 M"/>
              </a:rPr>
              <a:t>견적뿐</a:t>
            </a:r>
            <a:r>
              <a:rPr lang="ko-KR" altLang="en-US" sz="1200" dirty="0">
                <a:solidFill>
                  <a:srgbClr val="333333"/>
                </a:solidFill>
                <a:latin typeface="현대하모니 M"/>
              </a:rPr>
              <a:t> 아니라 국내 견적 및 전 패킹 업무로 </a:t>
            </a:r>
            <a:r>
              <a:rPr lang="ko-KR" altLang="en-US" sz="1200" b="1" dirty="0">
                <a:solidFill>
                  <a:srgbClr val="1E4E8C"/>
                </a:solidFill>
              </a:rPr>
              <a:t>활용 확장 가능</a:t>
            </a:r>
            <a:endParaRPr lang="en-US" altLang="ko-KR" sz="1200" b="1" dirty="0">
              <a:solidFill>
                <a:srgbClr val="1E4E8C"/>
              </a:solidFill>
            </a:endParaRPr>
          </a:p>
          <a:p>
            <a:pPr>
              <a:spcAft>
                <a:spcPts val="700"/>
              </a:spcAft>
            </a:pPr>
            <a:endParaRPr lang="ko-KR" altLang="en-US" sz="1200" b="1" dirty="0">
              <a:solidFill>
                <a:srgbClr val="1E4E8C"/>
              </a:solidFill>
            </a:endParaRPr>
          </a:p>
          <a:p>
            <a:pPr>
              <a:spcAft>
                <a:spcPts val="700"/>
              </a:spcAft>
            </a:pPr>
            <a:r>
              <a:rPr lang="en-US" altLang="ko-KR" sz="1200" dirty="0">
                <a:solidFill>
                  <a:srgbClr val="333333"/>
                </a:solidFill>
                <a:latin typeface="현대하모니 M"/>
              </a:rPr>
              <a:t>· </a:t>
            </a:r>
            <a:r>
              <a:rPr lang="ko-KR" altLang="en-US" sz="1200" dirty="0">
                <a:solidFill>
                  <a:srgbClr val="333333"/>
                </a:solidFill>
                <a:latin typeface="현대하모니 M"/>
              </a:rPr>
              <a:t>정확한 적재량 산출로 </a:t>
            </a:r>
            <a:r>
              <a:rPr lang="ko-KR" altLang="en-US" sz="1200" dirty="0" err="1">
                <a:solidFill>
                  <a:srgbClr val="333333"/>
                </a:solidFill>
                <a:latin typeface="현대하모니 M"/>
              </a:rPr>
              <a:t>운임비</a:t>
            </a:r>
            <a:r>
              <a:rPr lang="ko-KR" altLang="en-US" sz="1200" dirty="0">
                <a:solidFill>
                  <a:srgbClr val="333333"/>
                </a:solidFill>
                <a:latin typeface="현대하모니 M"/>
              </a:rPr>
              <a:t> </a:t>
            </a:r>
            <a:r>
              <a:rPr lang="ko-KR" altLang="en-US" sz="1200" b="1" dirty="0">
                <a:solidFill>
                  <a:srgbClr val="1E4E8C"/>
                </a:solidFill>
              </a:rPr>
              <a:t>견적 신뢰도 및 업무 효율 향상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DE8D83-AF02-445F-B7EB-C9FFAE5027A9}"/>
              </a:ext>
            </a:extLst>
          </p:cNvPr>
          <p:cNvSpPr txBox="1"/>
          <p:nvPr/>
        </p:nvSpPr>
        <p:spPr>
          <a:xfrm>
            <a:off x="513538" y="917137"/>
            <a:ext cx="1225361" cy="26161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lang="en-US" altLang="ko-KR" sz="1400" b="1" dirty="0">
                <a:solidFill>
                  <a:srgbClr val="222222"/>
                </a:solidFill>
                <a:latin typeface="현대하모니 M"/>
              </a:rPr>
              <a:t>1. </a:t>
            </a:r>
            <a:r>
              <a:rPr lang="ko-KR" altLang="en-US" sz="1400" b="1" dirty="0">
                <a:solidFill>
                  <a:srgbClr val="222222"/>
                </a:solidFill>
                <a:latin typeface="현대하모니 M"/>
              </a:rPr>
              <a:t>추진 배경</a:t>
            </a:r>
            <a:endParaRPr sz="1400" b="1" dirty="0">
              <a:solidFill>
                <a:srgbClr val="222222"/>
              </a:solidFill>
              <a:latin typeface="현대하모니 M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C29BCA-D2FE-4B26-9002-AF4A7E0F2275}"/>
              </a:ext>
            </a:extLst>
          </p:cNvPr>
          <p:cNvSpPr txBox="1"/>
          <p:nvPr/>
        </p:nvSpPr>
        <p:spPr>
          <a:xfrm>
            <a:off x="513538" y="1315476"/>
            <a:ext cx="4841009" cy="2104028"/>
          </a:xfrm>
          <a:prstGeom prst="rect">
            <a:avLst/>
          </a:prstGeom>
          <a:noFill/>
        </p:spPr>
        <p:txBody>
          <a:bodyPr wrap="square" lIns="108000" tIns="36000" rIns="108000" bIns="36000" rtlCol="0">
            <a:spAutoFit/>
          </a:bodyPr>
          <a:lstStyle/>
          <a:p>
            <a:pPr marL="228600" indent="-228600">
              <a:buFont typeface="+mj-ea"/>
              <a:buAutoNum type="circleNumDbPlain"/>
            </a:pPr>
            <a:r>
              <a:rPr lang="ko-KR" altLang="en-US" sz="1200" dirty="0">
                <a:solidFill>
                  <a:srgbClr val="333333"/>
                </a:solidFill>
                <a:latin typeface="현대하모니 M"/>
              </a:rPr>
              <a:t>시작 투자비 견적서</a:t>
            </a:r>
            <a:r>
              <a:rPr lang="en-US" altLang="ko-KR" sz="1200" dirty="0">
                <a:solidFill>
                  <a:srgbClr val="333333"/>
                </a:solidFill>
                <a:latin typeface="현대하모니 M"/>
              </a:rPr>
              <a:t>(BD Atlas Foam Padding) </a:t>
            </a:r>
            <a:r>
              <a:rPr lang="ko-KR" altLang="en-US" sz="1200" dirty="0">
                <a:solidFill>
                  <a:srgbClr val="333333"/>
                </a:solidFill>
                <a:latin typeface="현대하모니 M"/>
              </a:rPr>
              <a:t>작성 중 해외 배송 </a:t>
            </a:r>
            <a:r>
              <a:rPr lang="ko-KR" altLang="en-US" sz="1200" dirty="0" err="1">
                <a:solidFill>
                  <a:srgbClr val="333333"/>
                </a:solidFill>
                <a:latin typeface="현대하모니 M"/>
              </a:rPr>
              <a:t>운임비</a:t>
            </a:r>
            <a:r>
              <a:rPr lang="ko-KR" altLang="en-US" sz="1200" dirty="0">
                <a:solidFill>
                  <a:srgbClr val="333333"/>
                </a:solidFill>
                <a:latin typeface="현대하모니 M"/>
              </a:rPr>
              <a:t> 산출 필요 </a:t>
            </a:r>
            <a:br>
              <a:rPr lang="en-US" altLang="ko-KR" sz="1200" dirty="0">
                <a:solidFill>
                  <a:srgbClr val="333333"/>
                </a:solidFill>
                <a:latin typeface="현대하모니 M"/>
              </a:rPr>
            </a:br>
            <a:r>
              <a:rPr lang="ko-KR" altLang="en-US" sz="1200" b="1" dirty="0">
                <a:solidFill>
                  <a:srgbClr val="333333"/>
                </a:solidFill>
                <a:latin typeface="현대하모니 M"/>
              </a:rPr>
              <a:t>▶ </a:t>
            </a:r>
            <a:r>
              <a:rPr lang="en-US" altLang="ko-KR" sz="1200" dirty="0">
                <a:solidFill>
                  <a:srgbClr val="333333"/>
                </a:solidFill>
                <a:latin typeface="현대하모니 M"/>
              </a:rPr>
              <a:t>FedEx </a:t>
            </a:r>
            <a:r>
              <a:rPr lang="ko-KR" altLang="en-US" sz="1200" dirty="0">
                <a:solidFill>
                  <a:srgbClr val="333333"/>
                </a:solidFill>
                <a:latin typeface="현대하모니 M"/>
              </a:rPr>
              <a:t>견적을 위한 </a:t>
            </a:r>
            <a:r>
              <a:rPr lang="en-US" altLang="ko-KR" sz="1200" dirty="0">
                <a:solidFill>
                  <a:srgbClr val="333333"/>
                </a:solidFill>
                <a:latin typeface="현대하모니 M"/>
              </a:rPr>
              <a:t>1</a:t>
            </a:r>
            <a:r>
              <a:rPr lang="ko-KR" altLang="en-US" sz="1200" dirty="0">
                <a:solidFill>
                  <a:srgbClr val="333333"/>
                </a:solidFill>
                <a:latin typeface="현대하모니 M"/>
              </a:rPr>
              <a:t>박스당 무게</a:t>
            </a:r>
            <a:r>
              <a:rPr lang="en-US" altLang="ko-KR" sz="1200" dirty="0">
                <a:solidFill>
                  <a:srgbClr val="333333"/>
                </a:solidFill>
                <a:latin typeface="현대하모니 M"/>
              </a:rPr>
              <a:t>·</a:t>
            </a:r>
            <a:r>
              <a:rPr lang="ko-KR" altLang="en-US" sz="1200" dirty="0">
                <a:solidFill>
                  <a:srgbClr val="333333"/>
                </a:solidFill>
                <a:latin typeface="현대하모니 M"/>
              </a:rPr>
              <a:t>총 박스 수 파악 필수</a:t>
            </a:r>
            <a:br>
              <a:rPr lang="en-US" altLang="ko-KR" sz="1200" dirty="0">
                <a:solidFill>
                  <a:srgbClr val="333333"/>
                </a:solidFill>
                <a:latin typeface="현대하모니 M"/>
              </a:rPr>
            </a:br>
            <a:br>
              <a:rPr lang="en-US" altLang="ko-KR" sz="1200" dirty="0">
                <a:solidFill>
                  <a:srgbClr val="333333"/>
                </a:solidFill>
                <a:latin typeface="현대하모니 M"/>
              </a:rPr>
            </a:br>
            <a:endParaRPr lang="en-US" altLang="ko-KR" sz="1200" dirty="0">
              <a:solidFill>
                <a:srgbClr val="333333"/>
              </a:solidFill>
              <a:latin typeface="현대하모니 M"/>
            </a:endParaRPr>
          </a:p>
          <a:p>
            <a:pPr marL="228600" indent="-228600">
              <a:buFont typeface="+mj-ea"/>
              <a:buAutoNum type="circleNumDbPlain"/>
            </a:pPr>
            <a:r>
              <a:rPr lang="ko-KR" altLang="en-US" sz="1200" dirty="0">
                <a:solidFill>
                  <a:srgbClr val="333333"/>
                </a:solidFill>
                <a:latin typeface="현대하모니 M"/>
              </a:rPr>
              <a:t>부품은 </a:t>
            </a:r>
            <a:r>
              <a:rPr lang="en-US" altLang="ko-KR" sz="1200" dirty="0">
                <a:solidFill>
                  <a:srgbClr val="333333"/>
                </a:solidFill>
                <a:latin typeface="현대하모니 M"/>
              </a:rPr>
              <a:t>SET </a:t>
            </a:r>
            <a:r>
              <a:rPr lang="ko-KR" altLang="en-US" sz="1200" dirty="0">
                <a:solidFill>
                  <a:srgbClr val="333333"/>
                </a:solidFill>
                <a:latin typeface="현대하모니 M"/>
              </a:rPr>
              <a:t>단위</a:t>
            </a:r>
            <a:r>
              <a:rPr lang="en-US" altLang="ko-KR" sz="1200" dirty="0">
                <a:solidFill>
                  <a:srgbClr val="333333"/>
                </a:solidFill>
                <a:latin typeface="현대하모니 M"/>
              </a:rPr>
              <a:t>(1SET = </a:t>
            </a:r>
            <a:r>
              <a:rPr lang="ko-KR" altLang="en-US" sz="1200" dirty="0">
                <a:solidFill>
                  <a:srgbClr val="333333"/>
                </a:solidFill>
                <a:latin typeface="현대하모니 M"/>
              </a:rPr>
              <a:t>부품 조합</a:t>
            </a:r>
            <a:r>
              <a:rPr lang="en-US" altLang="ko-KR" sz="1200" dirty="0">
                <a:solidFill>
                  <a:srgbClr val="333333"/>
                </a:solidFill>
                <a:latin typeface="현대하모니 M"/>
              </a:rPr>
              <a:t>)</a:t>
            </a:r>
            <a:r>
              <a:rPr lang="ko-KR" altLang="en-US" sz="1200" dirty="0">
                <a:solidFill>
                  <a:srgbClr val="333333"/>
                </a:solidFill>
                <a:latin typeface="현대하모니 M"/>
              </a:rPr>
              <a:t>로 박스에 적재</a:t>
            </a:r>
            <a:br>
              <a:rPr lang="en-US" altLang="ko-KR" sz="1200" dirty="0">
                <a:solidFill>
                  <a:srgbClr val="333333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</a:br>
            <a:r>
              <a:rPr lang="ko-KR" altLang="en-US" sz="1200" b="1" dirty="0">
                <a:solidFill>
                  <a:srgbClr val="333333"/>
                </a:solidFill>
                <a:latin typeface="현대하모니 M"/>
              </a:rPr>
              <a:t>▶ </a:t>
            </a:r>
            <a:r>
              <a:rPr lang="ko-KR" altLang="en-US" sz="1200" dirty="0">
                <a:solidFill>
                  <a:srgbClr val="333333"/>
                </a:solidFill>
                <a:latin typeface="현대하모니 M"/>
              </a:rPr>
              <a:t>박스 사이즈</a:t>
            </a:r>
            <a:r>
              <a:rPr lang="en-US" altLang="ko-KR" sz="1200" dirty="0">
                <a:solidFill>
                  <a:srgbClr val="333333"/>
                </a:solidFill>
                <a:latin typeface="현대하모니 M"/>
              </a:rPr>
              <a:t>·BOM</a:t>
            </a:r>
            <a:r>
              <a:rPr lang="ko-KR" altLang="en-US" sz="1200" dirty="0">
                <a:solidFill>
                  <a:srgbClr val="333333"/>
                </a:solidFill>
                <a:latin typeface="현대하모니 M"/>
              </a:rPr>
              <a:t>만으로는 최대 적재량 산출이 어려움</a:t>
            </a:r>
            <a:br>
              <a:rPr lang="en-US" altLang="ko-KR" sz="1200" dirty="0">
                <a:solidFill>
                  <a:srgbClr val="333333"/>
                </a:solidFill>
                <a:latin typeface="현대하모니 M"/>
              </a:rPr>
            </a:br>
            <a:br>
              <a:rPr lang="en-US" altLang="ko-KR" sz="1200" dirty="0">
                <a:solidFill>
                  <a:srgbClr val="333333"/>
                </a:solidFill>
                <a:latin typeface="현대하모니 M"/>
              </a:rPr>
            </a:br>
            <a:endParaRPr lang="en-US" altLang="ko-KR" sz="1200" dirty="0">
              <a:solidFill>
                <a:srgbClr val="333333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228600" indent="-228600">
              <a:buFont typeface="+mj-ea"/>
              <a:buAutoNum type="circleNumDbPlain"/>
            </a:pPr>
            <a:r>
              <a:rPr lang="ko-KR" altLang="en-US" sz="1200" dirty="0">
                <a:solidFill>
                  <a:srgbClr val="333333"/>
                </a:solidFill>
                <a:latin typeface="현대하모니 M"/>
              </a:rPr>
              <a:t>기존 담당자 임의 계산 및 생성형 </a:t>
            </a:r>
            <a:r>
              <a:rPr lang="en-US" altLang="ko-KR" sz="1200" dirty="0">
                <a:solidFill>
                  <a:srgbClr val="333333"/>
                </a:solidFill>
                <a:latin typeface="현대하모니 M"/>
              </a:rPr>
              <a:t>AI </a:t>
            </a:r>
            <a:r>
              <a:rPr lang="ko-KR" altLang="en-US" sz="1200" dirty="0">
                <a:solidFill>
                  <a:srgbClr val="333333"/>
                </a:solidFill>
                <a:latin typeface="현대하모니 M"/>
              </a:rPr>
              <a:t>계산 방식 활용</a:t>
            </a:r>
            <a:br>
              <a:rPr lang="en-US" altLang="ko-KR" sz="1200" dirty="0"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</a:br>
            <a:r>
              <a:rPr lang="ko-KR" altLang="en-US" sz="1200" b="1" dirty="0">
                <a:solidFill>
                  <a:srgbClr val="333333"/>
                </a:solidFill>
                <a:latin typeface="현대하모니 M"/>
              </a:rPr>
              <a:t>▶ </a:t>
            </a:r>
            <a:r>
              <a:rPr lang="ko-KR" altLang="en-US" sz="1200" dirty="0">
                <a:solidFill>
                  <a:srgbClr val="333333"/>
                </a:solidFill>
                <a:latin typeface="현대하모니 M"/>
              </a:rPr>
              <a:t>비현실적 패킹 및 매번 상이한 결과값으로 견적 신뢰도 저하</a:t>
            </a:r>
            <a:endParaRPr lang="en-US" altLang="ko-KR" sz="1200" dirty="0">
              <a:solidFill>
                <a:srgbClr val="333333"/>
              </a:solidFill>
              <a:latin typeface="현대하모니 M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3BEF61-A1F0-49AA-A258-E33A223EF9AA}"/>
              </a:ext>
            </a:extLst>
          </p:cNvPr>
          <p:cNvSpPr txBox="1"/>
          <p:nvPr/>
        </p:nvSpPr>
        <p:spPr>
          <a:xfrm>
            <a:off x="518373" y="4023191"/>
            <a:ext cx="2160240" cy="26161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lang="en-US" altLang="ko-KR" sz="1400" b="1" dirty="0">
                <a:solidFill>
                  <a:srgbClr val="222222"/>
                </a:solidFill>
                <a:latin typeface="현대하모니 M"/>
              </a:rPr>
              <a:t>2</a:t>
            </a:r>
            <a:r>
              <a:rPr sz="1400" b="1" dirty="0">
                <a:solidFill>
                  <a:srgbClr val="222222"/>
                </a:solidFill>
                <a:latin typeface="현대하모니 M"/>
              </a:rPr>
              <a:t>. </a:t>
            </a:r>
            <a:r>
              <a:rPr lang="ko-KR" altLang="en-US" sz="1400" b="1" dirty="0">
                <a:solidFill>
                  <a:srgbClr val="222222"/>
                </a:solidFill>
                <a:latin typeface="현대하모니 M"/>
              </a:rPr>
              <a:t>개발 환경 및 활용 도구</a:t>
            </a:r>
            <a:endParaRPr sz="1400" b="1" dirty="0">
              <a:solidFill>
                <a:srgbClr val="222222"/>
              </a:solidFill>
              <a:latin typeface="현대하모니 M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8600E5-D825-4D6F-930F-BAD0F7468880}"/>
              </a:ext>
            </a:extLst>
          </p:cNvPr>
          <p:cNvSpPr txBox="1"/>
          <p:nvPr/>
        </p:nvSpPr>
        <p:spPr>
          <a:xfrm>
            <a:off x="513538" y="4387663"/>
            <a:ext cx="3276364" cy="1796252"/>
          </a:xfrm>
          <a:prstGeom prst="rect">
            <a:avLst/>
          </a:prstGeom>
          <a:noFill/>
        </p:spPr>
        <p:txBody>
          <a:bodyPr wrap="square" lIns="108000" tIns="36000" rIns="108000" bIns="36000" rtlCol="0">
            <a:spAutoFit/>
          </a:bodyPr>
          <a:lstStyle/>
          <a:p>
            <a:r>
              <a:rPr lang="en-US" altLang="ko-KR" sz="1400" dirty="0">
                <a:solidFill>
                  <a:srgbClr val="333333"/>
                </a:solidFill>
                <a:latin typeface="현대하모니 M"/>
              </a:rPr>
              <a:t>· </a:t>
            </a:r>
            <a:r>
              <a:rPr lang="en-US" altLang="ko-KR" sz="1200" b="1" dirty="0">
                <a:solidFill>
                  <a:srgbClr val="1E4E8C"/>
                </a:solidFill>
              </a:rPr>
              <a:t>Copilot </a:t>
            </a:r>
            <a:r>
              <a:rPr lang="ko-KR" altLang="en-US" sz="1200" b="1" dirty="0">
                <a:solidFill>
                  <a:srgbClr val="333333"/>
                </a:solidFill>
                <a:latin typeface="현대하모니 M"/>
              </a:rPr>
              <a:t>▶ </a:t>
            </a:r>
            <a:r>
              <a:rPr lang="ko-KR" altLang="en-US" sz="1200" dirty="0">
                <a:solidFill>
                  <a:srgbClr val="333333"/>
                </a:solidFill>
                <a:latin typeface="현대하모니 M"/>
              </a:rPr>
              <a:t>사내 </a:t>
            </a:r>
            <a:r>
              <a:rPr lang="en-US" altLang="ko-KR" sz="1200" dirty="0">
                <a:solidFill>
                  <a:srgbClr val="333333"/>
                </a:solidFill>
                <a:latin typeface="현대하모니 M"/>
              </a:rPr>
              <a:t>AI</a:t>
            </a:r>
          </a:p>
          <a:p>
            <a:endParaRPr lang="en-US" altLang="ko-KR" sz="1400" dirty="0">
              <a:solidFill>
                <a:srgbClr val="333333"/>
              </a:solidFill>
              <a:latin typeface="현대하모니 M"/>
            </a:endParaRPr>
          </a:p>
          <a:p>
            <a:r>
              <a:rPr lang="en-US" altLang="ko-KR" sz="1400" dirty="0">
                <a:solidFill>
                  <a:srgbClr val="333333"/>
                </a:solidFill>
                <a:latin typeface="현대하모니 M"/>
              </a:rPr>
              <a:t>· </a:t>
            </a:r>
            <a:r>
              <a:rPr lang="en-US" altLang="ko-KR" sz="1200" b="1" dirty="0" err="1">
                <a:solidFill>
                  <a:srgbClr val="1E4E8C"/>
                </a:solidFill>
              </a:rPr>
              <a:t>Streamlit</a:t>
            </a:r>
            <a:r>
              <a:rPr lang="en-US" altLang="ko-KR" sz="1200" dirty="0">
                <a:solidFill>
                  <a:srgbClr val="333333"/>
                </a:solidFill>
                <a:latin typeface="현대하모니 M"/>
              </a:rPr>
              <a:t> </a:t>
            </a:r>
            <a:r>
              <a:rPr lang="ko-KR" altLang="en-US" sz="1200" b="1" dirty="0">
                <a:solidFill>
                  <a:srgbClr val="333333"/>
                </a:solidFill>
                <a:latin typeface="현대하모니 M"/>
              </a:rPr>
              <a:t>▶</a:t>
            </a:r>
            <a:r>
              <a:rPr lang="en-US" altLang="ko-KR" sz="1200" dirty="0">
                <a:solidFill>
                  <a:srgbClr val="333333"/>
                </a:solidFill>
                <a:latin typeface="현대하모니 M"/>
              </a:rPr>
              <a:t> Python </a:t>
            </a:r>
            <a:r>
              <a:rPr lang="ko-KR" altLang="en-US" sz="1200" dirty="0">
                <a:solidFill>
                  <a:srgbClr val="333333"/>
                </a:solidFill>
                <a:latin typeface="현대하모니 M"/>
              </a:rPr>
              <a:t>웹 앱 프레임워크</a:t>
            </a:r>
          </a:p>
          <a:p>
            <a:endParaRPr lang="en-US" altLang="ko-KR" sz="1400" dirty="0">
              <a:solidFill>
                <a:srgbClr val="333333"/>
              </a:solidFill>
              <a:latin typeface="현대하모니 M"/>
            </a:endParaRPr>
          </a:p>
          <a:p>
            <a:r>
              <a:rPr lang="en-US" altLang="ko-KR" sz="1400" dirty="0">
                <a:solidFill>
                  <a:srgbClr val="333333"/>
                </a:solidFill>
                <a:latin typeface="현대하모니 M"/>
              </a:rPr>
              <a:t>· </a:t>
            </a:r>
            <a:r>
              <a:rPr lang="en-US" altLang="ko-KR" sz="1200" b="1" dirty="0">
                <a:solidFill>
                  <a:srgbClr val="1E4E8C"/>
                </a:solidFill>
              </a:rPr>
              <a:t>VS Code </a:t>
            </a:r>
            <a:r>
              <a:rPr lang="ko-KR" altLang="en-US" sz="1200" b="1" dirty="0">
                <a:solidFill>
                  <a:srgbClr val="333333"/>
                </a:solidFill>
                <a:latin typeface="현대하모니 M"/>
              </a:rPr>
              <a:t>▶</a:t>
            </a:r>
            <a:r>
              <a:rPr lang="en-US" altLang="ko-KR" sz="1200" b="1" dirty="0">
                <a:solidFill>
                  <a:srgbClr val="1E4E8C"/>
                </a:solidFill>
                <a:latin typeface="현대하모니 M"/>
              </a:rPr>
              <a:t> </a:t>
            </a:r>
            <a:r>
              <a:rPr lang="ko-KR" altLang="en-US" sz="1200" dirty="0">
                <a:latin typeface="현대하모니 M"/>
              </a:rPr>
              <a:t>코드 작성 및 실행 환경</a:t>
            </a:r>
          </a:p>
          <a:p>
            <a:endParaRPr lang="en-US" altLang="ko-KR" sz="1400" dirty="0">
              <a:solidFill>
                <a:srgbClr val="333333"/>
              </a:solidFill>
              <a:latin typeface="현대하모니 M"/>
            </a:endParaRPr>
          </a:p>
          <a:p>
            <a:r>
              <a:rPr lang="en-US" altLang="ko-KR" sz="1400" dirty="0">
                <a:solidFill>
                  <a:srgbClr val="333333"/>
                </a:solidFill>
                <a:latin typeface="현대하모니 M"/>
              </a:rPr>
              <a:t>· </a:t>
            </a:r>
            <a:r>
              <a:rPr lang="en-US" altLang="ko-KR" sz="1200" b="1" dirty="0" err="1">
                <a:solidFill>
                  <a:srgbClr val="1E4E8C"/>
                </a:solidFill>
              </a:rPr>
              <a:t>Github</a:t>
            </a:r>
            <a:r>
              <a:rPr lang="en-US" altLang="ko-KR" sz="1200" dirty="0">
                <a:solidFill>
                  <a:srgbClr val="333333"/>
                </a:solidFill>
                <a:latin typeface="현대하모니 M"/>
              </a:rPr>
              <a:t> </a:t>
            </a:r>
            <a:r>
              <a:rPr lang="ko-KR" altLang="en-US" sz="1200" b="1" dirty="0">
                <a:solidFill>
                  <a:srgbClr val="333333"/>
                </a:solidFill>
                <a:latin typeface="현대하모니 M"/>
              </a:rPr>
              <a:t>▶</a:t>
            </a:r>
            <a:r>
              <a:rPr lang="en-US" altLang="ko-KR" sz="1200" dirty="0">
                <a:solidFill>
                  <a:srgbClr val="333333"/>
                </a:solidFill>
                <a:latin typeface="현대하모니 M"/>
              </a:rPr>
              <a:t> </a:t>
            </a:r>
            <a:r>
              <a:rPr lang="ko-KR" altLang="en-US" sz="1200" dirty="0">
                <a:solidFill>
                  <a:srgbClr val="333333"/>
                </a:solidFill>
                <a:latin typeface="현대하모니 M"/>
              </a:rPr>
              <a:t>버전 관리 및 업데이트 배포</a:t>
            </a:r>
          </a:p>
          <a:p>
            <a:endParaRPr lang="ko-KR" altLang="en-US" sz="1400" dirty="0" err="1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A73346-369B-4548-A877-BF91F9B88B91}"/>
              </a:ext>
            </a:extLst>
          </p:cNvPr>
          <p:cNvSpPr txBox="1"/>
          <p:nvPr/>
        </p:nvSpPr>
        <p:spPr>
          <a:xfrm>
            <a:off x="5501601" y="2132856"/>
            <a:ext cx="3957822" cy="318924"/>
          </a:xfrm>
          <a:prstGeom prst="rect">
            <a:avLst/>
          </a:prstGeom>
          <a:noFill/>
        </p:spPr>
        <p:txBody>
          <a:bodyPr wrap="square" lIns="108000" tIns="36000" rIns="108000" bIns="36000" rtlCol="0">
            <a:spAutoFit/>
          </a:bodyPr>
          <a:lstStyle/>
          <a:p>
            <a:r>
              <a:rPr lang="ko-KR" altLang="en-US" sz="1600" b="1" dirty="0">
                <a:solidFill>
                  <a:srgbClr val="5A9BD5"/>
                </a:solidFill>
                <a:latin typeface="현대하모니 M"/>
              </a:rPr>
              <a:t>→ </a:t>
            </a:r>
            <a:r>
              <a:rPr lang="ko-KR" altLang="en-US" sz="1400" b="1" dirty="0">
                <a:solidFill>
                  <a:srgbClr val="1E4E8C"/>
                </a:solidFill>
                <a:latin typeface="현대하모니 M"/>
              </a:rPr>
              <a:t>적재량</a:t>
            </a:r>
            <a:r>
              <a:rPr lang="en-US" altLang="ko-KR" sz="1400" b="1" dirty="0">
                <a:solidFill>
                  <a:srgbClr val="1E4E8C"/>
                </a:solidFill>
                <a:latin typeface="현대하모니 M"/>
              </a:rPr>
              <a:t>·</a:t>
            </a:r>
            <a:r>
              <a:rPr lang="ko-KR" altLang="en-US" sz="1400" b="1" dirty="0">
                <a:solidFill>
                  <a:srgbClr val="1E4E8C"/>
                </a:solidFill>
                <a:latin typeface="현대하모니 M"/>
              </a:rPr>
              <a:t>중량 자동 산출 프로그램 개발 필요</a:t>
            </a:r>
            <a:endParaRPr lang="ko-KR" altLang="en-US" sz="14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 txBox="1"/>
          <p:nvPr/>
        </p:nvSpPr>
        <p:spPr>
          <a:xfrm>
            <a:off x="308484" y="111521"/>
            <a:ext cx="8048625" cy="4540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113" b="1" dirty="0" err="1">
                <a:solidFill>
                  <a:srgbClr val="141414"/>
                </a:solidFill>
                <a:latin typeface="Noto Sans SC"/>
                <a:ea typeface="Noto Sans SC"/>
                <a:cs typeface="Noto Sans SC"/>
                <a:sym typeface="Noto Sans SC"/>
              </a:rPr>
              <a:t>프로그램</a:t>
            </a:r>
            <a:r>
              <a:rPr lang="en-US" sz="2113" b="1" dirty="0">
                <a:solidFill>
                  <a:srgbClr val="141414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113" b="1" dirty="0" err="1">
                <a:solidFill>
                  <a:srgbClr val="141414"/>
                </a:solidFill>
                <a:latin typeface="Noto Sans SC"/>
                <a:ea typeface="Noto Sans SC"/>
                <a:cs typeface="Noto Sans SC"/>
                <a:sym typeface="Noto Sans SC"/>
              </a:rPr>
              <a:t>접속</a:t>
            </a:r>
            <a:r>
              <a:rPr lang="en-US" sz="2113" b="1" dirty="0">
                <a:solidFill>
                  <a:srgbClr val="141414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113" b="1" dirty="0" err="1">
                <a:solidFill>
                  <a:srgbClr val="141414"/>
                </a:solidFill>
                <a:latin typeface="Noto Sans SC"/>
                <a:ea typeface="Noto Sans SC"/>
                <a:cs typeface="Noto Sans SC"/>
                <a:sym typeface="Noto Sans SC"/>
              </a:rPr>
              <a:t>방법</a:t>
            </a:r>
            <a:endParaRPr lang="en-US" sz="894" dirty="0"/>
          </a:p>
        </p:txBody>
      </p:sp>
      <p:sp>
        <p:nvSpPr>
          <p:cNvPr id="5" name="AutoShape 5"/>
          <p:cNvSpPr/>
          <p:nvPr/>
        </p:nvSpPr>
        <p:spPr>
          <a:xfrm>
            <a:off x="619125" y="1564208"/>
            <a:ext cx="8667750" cy="722313"/>
          </a:xfrm>
          <a:prstGeom prst="roundRect">
            <a:avLst>
              <a:gd name="adj" fmla="val 8571"/>
            </a:avLst>
          </a:prstGeom>
          <a:solidFill>
            <a:srgbClr val="EBF3FF">
              <a:alpha val="100000"/>
            </a:srgbClr>
          </a:solidFill>
          <a:ln w="12700" cap="flat" cmpd="sng">
            <a:solidFill>
              <a:srgbClr val="4682C8">
                <a:alpha val="100000"/>
              </a:srgbClr>
            </a:solidFill>
            <a:prstDash val="solid"/>
            <a:round/>
          </a:ln>
        </p:spPr>
        <p:txBody>
          <a:bodyPr vert="horz" wrap="square" lIns="51594" tIns="51594" rIns="51594" bIns="51594" rtlCol="0" anchor="ctr"/>
          <a:lstStyle/>
          <a:p>
            <a:pPr algn="ctr">
              <a:defRPr/>
            </a:pPr>
            <a:endParaRPr sz="1463"/>
          </a:p>
        </p:txBody>
      </p:sp>
      <p:sp>
        <p:nvSpPr>
          <p:cNvPr id="6" name="AutoShape 6"/>
          <p:cNvSpPr txBox="1"/>
          <p:nvPr/>
        </p:nvSpPr>
        <p:spPr>
          <a:xfrm>
            <a:off x="825500" y="1667396"/>
            <a:ext cx="8255000" cy="51593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en-US" sz="1200" dirty="0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본 </a:t>
            </a:r>
            <a:r>
              <a:rPr lang="en-US" sz="1200" dirty="0" err="1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프로그램은</a:t>
            </a:r>
            <a:r>
              <a:rPr lang="en-US" sz="1200" dirty="0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 </a:t>
            </a:r>
            <a:r>
              <a:rPr lang="en-US" sz="1200" b="1" dirty="0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웹 </a:t>
            </a:r>
            <a:r>
              <a:rPr lang="en-US" sz="1200" b="1" dirty="0" err="1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기반</a:t>
            </a:r>
            <a:r>
              <a:rPr lang="en-US" sz="1200" dirty="0" err="1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으로</a:t>
            </a:r>
            <a:r>
              <a:rPr lang="en-US" sz="1200" dirty="0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 </a:t>
            </a:r>
            <a:r>
              <a:rPr lang="en-US" sz="1200" dirty="0" err="1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개발되어</a:t>
            </a:r>
            <a:r>
              <a:rPr lang="en-US" sz="1200" dirty="0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 </a:t>
            </a:r>
            <a:r>
              <a:rPr lang="en-US" sz="1200" dirty="0" err="1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별도의</a:t>
            </a:r>
            <a:r>
              <a:rPr lang="en-US" sz="1200" dirty="0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 </a:t>
            </a:r>
            <a:r>
              <a:rPr lang="en-US" sz="1200" dirty="0" err="1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설치</a:t>
            </a:r>
            <a:r>
              <a:rPr lang="en-US" sz="1200" dirty="0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 </a:t>
            </a:r>
            <a:r>
              <a:rPr lang="en-US" sz="1200" dirty="0" err="1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과정</a:t>
            </a:r>
            <a:r>
              <a:rPr lang="en-US" sz="1200" dirty="0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 </a:t>
            </a:r>
            <a:r>
              <a:rPr lang="en-US" sz="1200" dirty="0" err="1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없이</a:t>
            </a:r>
            <a:r>
              <a:rPr lang="en-US" sz="1200" dirty="0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 </a:t>
            </a:r>
            <a:r>
              <a:rPr lang="en-US" sz="1200" dirty="0" err="1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사용하실</a:t>
            </a:r>
            <a:r>
              <a:rPr lang="en-US" sz="1200" dirty="0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 수 </a:t>
            </a:r>
            <a:r>
              <a:rPr lang="en-US" sz="1200" dirty="0" err="1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있습니다</a:t>
            </a:r>
            <a:r>
              <a:rPr lang="en-US" sz="1200" dirty="0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.</a:t>
            </a:r>
            <a:endParaRPr lang="en-US" sz="800" dirty="0">
              <a:ea typeface="현대하모니 M" panose="02020603020101020101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19125" y="2492896"/>
            <a:ext cx="8667750" cy="722313"/>
          </a:xfrm>
          <a:prstGeom prst="roundRect">
            <a:avLst>
              <a:gd name="adj" fmla="val 8571"/>
            </a:avLst>
          </a:prstGeom>
          <a:solidFill>
            <a:srgbClr val="EBF3FF">
              <a:alpha val="100000"/>
            </a:srgbClr>
          </a:solidFill>
          <a:ln w="12700" cap="flat" cmpd="sng">
            <a:solidFill>
              <a:srgbClr val="4682C8">
                <a:alpha val="100000"/>
              </a:srgbClr>
            </a:solidFill>
            <a:prstDash val="solid"/>
            <a:round/>
          </a:ln>
        </p:spPr>
        <p:txBody>
          <a:bodyPr vert="horz" wrap="square" lIns="51594" tIns="51594" rIns="51594" bIns="51594" rtlCol="0" anchor="ctr"/>
          <a:lstStyle/>
          <a:p>
            <a:pPr algn="ctr">
              <a:defRPr/>
            </a:pPr>
            <a:endParaRPr sz="1463"/>
          </a:p>
        </p:txBody>
      </p:sp>
      <p:sp>
        <p:nvSpPr>
          <p:cNvPr id="8" name="AutoShape 8"/>
          <p:cNvSpPr txBox="1"/>
          <p:nvPr/>
        </p:nvSpPr>
        <p:spPr>
          <a:xfrm>
            <a:off x="825500" y="2596083"/>
            <a:ext cx="8255000" cy="51593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en-US" sz="1200" dirty="0" err="1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아래의</a:t>
            </a:r>
            <a:r>
              <a:rPr lang="en-US" sz="1200" dirty="0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 </a:t>
            </a:r>
            <a:r>
              <a:rPr lang="en-US" sz="1200" b="1" dirty="0" err="1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접속</a:t>
            </a:r>
            <a:r>
              <a:rPr lang="en-US" sz="1200" b="1" dirty="0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 </a:t>
            </a:r>
            <a:r>
              <a:rPr lang="en-US" sz="1200" b="1" dirty="0" err="1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URL을</a:t>
            </a:r>
            <a:r>
              <a:rPr lang="en-US" sz="1200" b="1" dirty="0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 </a:t>
            </a:r>
            <a:r>
              <a:rPr lang="en-US" sz="1200" b="1" dirty="0" err="1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CTRL+클릭</a:t>
            </a:r>
            <a:r>
              <a:rPr lang="en-US" sz="1200" dirty="0" err="1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하시면</a:t>
            </a:r>
            <a:r>
              <a:rPr lang="en-US" sz="1200" dirty="0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 </a:t>
            </a:r>
            <a:r>
              <a:rPr lang="en-US" sz="1200" dirty="0" err="1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프로그램</a:t>
            </a:r>
            <a:r>
              <a:rPr lang="en-US" sz="1200" dirty="0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 </a:t>
            </a:r>
            <a:r>
              <a:rPr lang="en-US" sz="1200" dirty="0" err="1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시작</a:t>
            </a:r>
            <a:r>
              <a:rPr lang="en-US" sz="1200" dirty="0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 </a:t>
            </a:r>
            <a:r>
              <a:rPr lang="en-US" sz="1200" dirty="0" err="1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화면으로</a:t>
            </a:r>
            <a:r>
              <a:rPr lang="en-US" sz="1200" dirty="0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 </a:t>
            </a:r>
            <a:r>
              <a:rPr lang="en-US" sz="1200" dirty="0" err="1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바로</a:t>
            </a:r>
            <a:r>
              <a:rPr lang="en-US" sz="1200" dirty="0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 </a:t>
            </a:r>
            <a:r>
              <a:rPr lang="en-US" sz="1200" dirty="0" err="1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연결됩니다</a:t>
            </a:r>
            <a:r>
              <a:rPr lang="en-US" sz="1200" dirty="0">
                <a:solidFill>
                  <a:srgbClr val="1E3C6E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.</a:t>
            </a:r>
            <a:endParaRPr lang="en-US" sz="800" dirty="0">
              <a:ea typeface="현대하모니 M" panose="02020603020101020101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08484" y="4149080"/>
            <a:ext cx="9217024" cy="1836203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C85050">
                <a:alpha val="100000"/>
              </a:srgbClr>
            </a:solidFill>
            <a:prstDash val="dash"/>
            <a:round/>
          </a:ln>
        </p:spPr>
        <p:txBody>
          <a:bodyPr vert="horz" wrap="square" lIns="51594" tIns="51594" rIns="51594" bIns="51594" rtlCol="0" anchor="ctr"/>
          <a:lstStyle/>
          <a:p>
            <a:pPr algn="ctr">
              <a:defRPr/>
            </a:pPr>
            <a:endParaRPr sz="1463"/>
          </a:p>
        </p:txBody>
      </p:sp>
      <p:sp>
        <p:nvSpPr>
          <p:cNvPr id="10" name="AutoShape 10"/>
          <p:cNvSpPr txBox="1"/>
          <p:nvPr/>
        </p:nvSpPr>
        <p:spPr>
          <a:xfrm>
            <a:off x="366378" y="4329100"/>
            <a:ext cx="1238250" cy="30956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400" b="1" dirty="0" err="1">
                <a:solidFill>
                  <a:srgbClr val="C85050"/>
                </a:solidFill>
                <a:latin typeface="Noto Sans SC"/>
                <a:ea typeface="Noto Sans SC"/>
                <a:cs typeface="Noto Sans SC"/>
                <a:sym typeface="Noto Sans SC"/>
              </a:rPr>
              <a:t>접속</a:t>
            </a:r>
            <a:r>
              <a:rPr lang="en-US" sz="1400" b="1" dirty="0">
                <a:solidFill>
                  <a:srgbClr val="C85050"/>
                </a:solidFill>
                <a:latin typeface="Noto Sans SC"/>
                <a:ea typeface="Noto Sans SC"/>
                <a:cs typeface="Noto Sans SC"/>
                <a:sym typeface="Noto Sans SC"/>
              </a:rPr>
              <a:t> URL</a:t>
            </a:r>
            <a:endParaRPr lang="en-US" sz="1000" dirty="0"/>
          </a:p>
        </p:txBody>
      </p:sp>
      <p:sp>
        <p:nvSpPr>
          <p:cNvPr id="11" name="AutoShape 11"/>
          <p:cNvSpPr txBox="1"/>
          <p:nvPr/>
        </p:nvSpPr>
        <p:spPr>
          <a:xfrm>
            <a:off x="344488" y="4780446"/>
            <a:ext cx="9217024" cy="412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200" b="1" dirty="0">
                <a:hlinkClick r:id="rId3"/>
              </a:rPr>
              <a:t>https://slhyeongyujeon-packingoptimizer-app-zavkwz.streamlit.app/</a:t>
            </a:r>
            <a:r>
              <a:rPr lang="en-US" sz="2200" b="1" dirty="0"/>
              <a:t> </a:t>
            </a:r>
          </a:p>
        </p:txBody>
      </p:sp>
      <p:sp>
        <p:nvSpPr>
          <p:cNvPr id="12" name="AutoShape 12"/>
          <p:cNvSpPr txBox="1"/>
          <p:nvPr/>
        </p:nvSpPr>
        <p:spPr>
          <a:xfrm>
            <a:off x="380492" y="5536530"/>
            <a:ext cx="8667750" cy="412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25000"/>
              </a:lnSpc>
              <a:defRPr/>
            </a:pPr>
            <a:r>
              <a:rPr lang="en-US" sz="894" dirty="0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※ </a:t>
            </a:r>
            <a:r>
              <a:rPr lang="en-US" sz="894" dirty="0" err="1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권장</a:t>
            </a:r>
            <a:r>
              <a:rPr lang="en-US" sz="894" dirty="0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894" dirty="0" err="1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브라우저</a:t>
            </a:r>
            <a:r>
              <a:rPr lang="en-US" sz="894" dirty="0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: Chrome / Edge. </a:t>
            </a:r>
            <a:r>
              <a:rPr lang="en-US" sz="894" dirty="0" err="1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최신</a:t>
            </a:r>
            <a:r>
              <a:rPr lang="en-US" sz="894" dirty="0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894" dirty="0" err="1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버전</a:t>
            </a:r>
            <a:r>
              <a:rPr lang="en-US" sz="894" dirty="0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894" dirty="0" err="1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사용을</a:t>
            </a:r>
            <a:r>
              <a:rPr lang="en-US" sz="894" dirty="0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894" dirty="0" err="1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권장합니다</a:t>
            </a:r>
            <a:r>
              <a:rPr lang="en-US" sz="894" dirty="0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89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7"/>
          <p:cNvSpPr/>
          <p:nvPr/>
        </p:nvSpPr>
        <p:spPr>
          <a:xfrm>
            <a:off x="6627102" y="749389"/>
            <a:ext cx="3002970" cy="5631939"/>
          </a:xfrm>
          <a:prstGeom prst="roundRect">
            <a:avLst>
              <a:gd name="adj" fmla="val 1818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</a:ln>
        </p:spPr>
        <p:txBody>
          <a:bodyPr vert="horz" wrap="square" lIns="51594" tIns="51594" rIns="51594" bIns="51594" rtlCol="0" anchor="ctr"/>
          <a:lstStyle/>
          <a:p>
            <a:pPr algn="ctr">
              <a:defRPr/>
            </a:pPr>
            <a:endParaRPr sz="1463"/>
          </a:p>
        </p:txBody>
      </p:sp>
      <p:sp>
        <p:nvSpPr>
          <p:cNvPr id="8" name="AutoShape 8"/>
          <p:cNvSpPr txBox="1"/>
          <p:nvPr/>
        </p:nvSpPr>
        <p:spPr>
          <a:xfrm>
            <a:off x="6753200" y="836712"/>
            <a:ext cx="2664296" cy="5400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25000"/>
              </a:lnSpc>
              <a:defRPr/>
            </a:pPr>
            <a:r>
              <a:rPr lang="en-US" altLang="ko-KR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1</a:t>
            </a:r>
            <a:r>
              <a:rPr lang="ko-KR" altLang="en-US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번 </a:t>
            </a:r>
            <a:r>
              <a:rPr lang="en-US" altLang="ko-KR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(</a:t>
            </a:r>
            <a:r>
              <a:rPr lang="ko-KR" altLang="en-US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박스 사이즈 </a:t>
            </a:r>
            <a:r>
              <a:rPr lang="ko-KR" altLang="en-US" sz="1200" b="1" dirty="0" err="1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입력칸</a:t>
            </a:r>
            <a:r>
              <a:rPr lang="en-US" altLang="ko-KR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)</a:t>
            </a:r>
          </a:p>
          <a:p>
            <a:pPr marL="285750" indent="-285750">
              <a:lnSpc>
                <a:spcPct val="125000"/>
              </a:lnSpc>
              <a:buFontTx/>
              <a:buChar char="-"/>
              <a:defRPr/>
            </a:pPr>
            <a:r>
              <a:rPr lang="ko-KR" altLang="en-US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원하시는 포장 박스의 사이즈를 입력하시면 됩니다</a:t>
            </a: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.</a:t>
            </a:r>
            <a:b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</a:b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(ex. 900, 550, 400)</a:t>
            </a:r>
          </a:p>
          <a:p>
            <a:pPr marL="285750" indent="-285750">
              <a:lnSpc>
                <a:spcPct val="125000"/>
              </a:lnSpc>
              <a:buFontTx/>
              <a:buChar char="-"/>
              <a:defRPr/>
            </a:pPr>
            <a:endParaRPr lang="en-US" altLang="ko-KR" sz="1200" b="1" dirty="0">
              <a:solidFill>
                <a:srgbClr val="1E50A0"/>
              </a:solidFill>
              <a:latin typeface="Noto Sans SC"/>
              <a:ea typeface="현대하모니 M" panose="02020603020101020101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  <a:defRPr/>
            </a:pPr>
            <a:br>
              <a:rPr lang="en-US" altLang="ko-KR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</a:br>
            <a:endParaRPr lang="en-US" altLang="ko-KR" sz="1200" b="1" dirty="0">
              <a:solidFill>
                <a:srgbClr val="1E50A0"/>
              </a:solidFill>
              <a:latin typeface="Noto Sans SC"/>
              <a:ea typeface="현대하모니 M" panose="02020603020101020101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ko-KR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2</a:t>
            </a:r>
            <a:r>
              <a:rPr lang="ko-KR" altLang="en-US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번 </a:t>
            </a:r>
            <a:r>
              <a:rPr lang="en-US" altLang="ko-KR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(</a:t>
            </a:r>
            <a:r>
              <a:rPr lang="ko-KR" altLang="en-US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제품 </a:t>
            </a:r>
            <a:r>
              <a:rPr lang="en-US" altLang="ko-KR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BOM </a:t>
            </a:r>
            <a:r>
              <a:rPr lang="ko-KR" altLang="en-US" sz="1200" b="1" dirty="0" err="1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입력칸</a:t>
            </a:r>
            <a:r>
              <a:rPr lang="en-US" altLang="ko-KR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)</a:t>
            </a:r>
          </a:p>
          <a:p>
            <a:pPr marL="285750" indent="-285750">
              <a:lnSpc>
                <a:spcPct val="125000"/>
              </a:lnSpc>
              <a:buFontTx/>
              <a:buChar char="-"/>
              <a:defRPr/>
            </a:pP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2-1</a:t>
            </a:r>
            <a:r>
              <a:rPr lang="ko-KR" altLang="en-US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번</a:t>
            </a: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: </a:t>
            </a:r>
            <a:r>
              <a:rPr lang="ko-KR" altLang="en-US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부품의 개수만큼 행 추가를 진행합니다</a:t>
            </a: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. </a:t>
            </a:r>
            <a:r>
              <a:rPr lang="ko-KR" altLang="en-US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행 삭제를 누르면 마지막 행이 삭제됩니다</a:t>
            </a: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.</a:t>
            </a:r>
          </a:p>
          <a:p>
            <a:pPr>
              <a:lnSpc>
                <a:spcPct val="125000"/>
              </a:lnSpc>
              <a:defRPr/>
            </a:pPr>
            <a:endParaRPr lang="en-US" altLang="ko-KR" sz="1200" dirty="0">
              <a:solidFill>
                <a:srgbClr val="1E50A0"/>
              </a:solidFill>
              <a:latin typeface="Noto Sans SC"/>
              <a:ea typeface="현대하모니 M" panose="02020603020101020101"/>
              <a:cs typeface="Noto Sans SC"/>
              <a:sym typeface="Noto Sans SC"/>
            </a:endParaRPr>
          </a:p>
          <a:p>
            <a:pPr marL="285750" indent="-285750">
              <a:lnSpc>
                <a:spcPct val="125000"/>
              </a:lnSpc>
              <a:buFontTx/>
              <a:buChar char="-"/>
              <a:defRPr/>
            </a:pP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2-2</a:t>
            </a:r>
            <a:r>
              <a:rPr lang="ko-KR" altLang="en-US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번</a:t>
            </a: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: </a:t>
            </a:r>
            <a:r>
              <a:rPr lang="ko-KR" altLang="en-US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박스에 들어갈 부품의 이름</a:t>
            </a: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,</a:t>
            </a:r>
            <a:r>
              <a:rPr lang="ko-KR" altLang="en-US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 제품 </a:t>
            </a: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1 SET</a:t>
            </a:r>
            <a:r>
              <a:rPr lang="ko-KR" altLang="en-US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당 들어갈 부품의 개수</a:t>
            </a: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, </a:t>
            </a:r>
            <a:r>
              <a:rPr lang="ko-KR" altLang="en-US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사이즈</a:t>
            </a: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, </a:t>
            </a:r>
            <a:r>
              <a:rPr lang="ko-KR" altLang="en-US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무게를 입력하고</a:t>
            </a: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, </a:t>
            </a:r>
            <a:r>
              <a:rPr lang="ko-KR" altLang="en-US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적재방식</a:t>
            </a: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(</a:t>
            </a:r>
            <a:r>
              <a:rPr lang="ko-KR" altLang="en-US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눕히기</a:t>
            </a: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, </a:t>
            </a:r>
            <a:r>
              <a:rPr lang="ko-KR" altLang="en-US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세우기</a:t>
            </a: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, </a:t>
            </a:r>
            <a:r>
              <a:rPr lang="ko-KR" altLang="en-US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자유롭게</a:t>
            </a: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)</a:t>
            </a:r>
            <a:r>
              <a:rPr lang="ko-KR" altLang="en-US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을 선택합니다</a:t>
            </a: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.</a:t>
            </a:r>
          </a:p>
          <a:p>
            <a:pPr>
              <a:lnSpc>
                <a:spcPct val="125000"/>
              </a:lnSpc>
              <a:defRPr/>
            </a:pPr>
            <a:br>
              <a:rPr lang="en-US" altLang="ko-KR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</a:br>
            <a:endParaRPr lang="en-US" altLang="ko-KR" sz="1200" b="1" dirty="0">
              <a:solidFill>
                <a:srgbClr val="1E50A0"/>
              </a:solidFill>
              <a:latin typeface="Noto Sans SC"/>
              <a:ea typeface="현대하모니 M" panose="02020603020101020101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ko-KR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3</a:t>
            </a:r>
            <a:r>
              <a:rPr lang="ko-KR" altLang="en-US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번 </a:t>
            </a:r>
            <a:r>
              <a:rPr lang="en-US" altLang="ko-KR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(</a:t>
            </a:r>
            <a:r>
              <a:rPr lang="ko-KR" altLang="en-US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계산하는 버튼</a:t>
            </a:r>
            <a:r>
              <a:rPr lang="en-US" altLang="ko-KR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)</a:t>
            </a:r>
          </a:p>
          <a:p>
            <a:pPr marL="285750" indent="-285750">
              <a:lnSpc>
                <a:spcPct val="125000"/>
              </a:lnSpc>
              <a:buFontTx/>
              <a:buChar char="-"/>
              <a:defRPr/>
            </a:pPr>
            <a:r>
              <a:rPr lang="ko-KR" altLang="en-US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위 사항들을 입력 후</a:t>
            </a: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, </a:t>
            </a:r>
            <a:r>
              <a:rPr lang="ko-KR" altLang="en-US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계산 버튼을 누르면 계산이 진행됩니다</a:t>
            </a: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.</a:t>
            </a:r>
          </a:p>
          <a:p>
            <a:pPr>
              <a:lnSpc>
                <a:spcPct val="125000"/>
              </a:lnSpc>
              <a:defRPr/>
            </a:pPr>
            <a:endParaRPr lang="en-US" altLang="ko-KR" sz="1400" b="1" dirty="0">
              <a:solidFill>
                <a:srgbClr val="1E50A0"/>
              </a:solidFill>
              <a:latin typeface="Noto Sans SC"/>
              <a:ea typeface="현대하모니 M" panose="02020603020101020101"/>
              <a:cs typeface="Noto Sans SC"/>
              <a:sym typeface="Noto Sans SC"/>
            </a:endParaRPr>
          </a:p>
        </p:txBody>
      </p:sp>
      <p:sp>
        <p:nvSpPr>
          <p:cNvPr id="13" name="AutoShape 3">
            <a:extLst>
              <a:ext uri="{FF2B5EF4-FFF2-40B4-BE49-F238E27FC236}">
                <a16:creationId xmlns:a16="http://schemas.microsoft.com/office/drawing/2014/main" id="{88B75976-8C90-4BEA-9EB1-CDEAAD13EB73}"/>
              </a:ext>
            </a:extLst>
          </p:cNvPr>
          <p:cNvSpPr txBox="1"/>
          <p:nvPr/>
        </p:nvSpPr>
        <p:spPr>
          <a:xfrm>
            <a:off x="308484" y="111521"/>
            <a:ext cx="8048625" cy="4540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ko-KR" sz="2113" b="1" dirty="0" err="1">
                <a:solidFill>
                  <a:srgbClr val="141414"/>
                </a:solidFill>
                <a:latin typeface="Noto Sans SC"/>
                <a:ea typeface="Noto Sans SC"/>
                <a:cs typeface="Noto Sans SC"/>
                <a:sym typeface="Noto Sans SC"/>
              </a:rPr>
              <a:t>사용</a:t>
            </a:r>
            <a:r>
              <a:rPr lang="en-US" altLang="ko-KR" sz="2113" b="1" dirty="0">
                <a:solidFill>
                  <a:srgbClr val="141414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altLang="ko-KR" sz="2113" b="1" dirty="0" err="1">
                <a:solidFill>
                  <a:srgbClr val="141414"/>
                </a:solidFill>
                <a:latin typeface="Noto Sans SC"/>
                <a:ea typeface="Noto Sans SC"/>
                <a:cs typeface="Noto Sans SC"/>
                <a:sym typeface="Noto Sans SC"/>
              </a:rPr>
              <a:t>가이드</a:t>
            </a:r>
            <a:r>
              <a:rPr lang="en-US" altLang="ko-KR" sz="2113" b="1" dirty="0">
                <a:solidFill>
                  <a:srgbClr val="141414"/>
                </a:solidFill>
                <a:latin typeface="Noto Sans SC"/>
                <a:ea typeface="Noto Sans SC"/>
                <a:cs typeface="Noto Sans SC"/>
                <a:sym typeface="Noto Sans SC"/>
              </a:rPr>
              <a:t> (1) — </a:t>
            </a:r>
            <a:r>
              <a:rPr lang="en-US" altLang="ko-KR" sz="2113" b="1" dirty="0" err="1">
                <a:solidFill>
                  <a:srgbClr val="141414"/>
                </a:solidFill>
                <a:latin typeface="Noto Sans SC"/>
                <a:ea typeface="Noto Sans SC"/>
                <a:cs typeface="Noto Sans SC"/>
                <a:sym typeface="Noto Sans SC"/>
              </a:rPr>
              <a:t>프로그램</a:t>
            </a:r>
            <a:r>
              <a:rPr lang="en-US" altLang="ko-KR" sz="2113" b="1" dirty="0">
                <a:solidFill>
                  <a:srgbClr val="141414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altLang="ko-KR" sz="2113" b="1" dirty="0" err="1">
                <a:solidFill>
                  <a:srgbClr val="141414"/>
                </a:solidFill>
                <a:latin typeface="Noto Sans SC"/>
                <a:ea typeface="Noto Sans SC"/>
                <a:cs typeface="Noto Sans SC"/>
                <a:sym typeface="Noto Sans SC"/>
              </a:rPr>
              <a:t>시작</a:t>
            </a:r>
            <a:r>
              <a:rPr lang="en-US" altLang="ko-KR" sz="2113" b="1" dirty="0">
                <a:solidFill>
                  <a:srgbClr val="141414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altLang="ko-KR" sz="2113" b="1" dirty="0" err="1">
                <a:solidFill>
                  <a:srgbClr val="141414"/>
                </a:solidFill>
                <a:latin typeface="Noto Sans SC"/>
                <a:ea typeface="Noto Sans SC"/>
                <a:cs typeface="Noto Sans SC"/>
                <a:sym typeface="Noto Sans SC"/>
              </a:rPr>
              <a:t>화면</a:t>
            </a:r>
            <a:endParaRPr lang="en-US" altLang="ko-KR" sz="894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F88EF4A-EC28-4DCB-820B-F470025B7E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92" y="749388"/>
            <a:ext cx="5993725" cy="563194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86E18BDA-1999-4C0A-AECC-B79BDEB3D0E9}"/>
              </a:ext>
            </a:extLst>
          </p:cNvPr>
          <p:cNvSpPr/>
          <p:nvPr/>
        </p:nvSpPr>
        <p:spPr>
          <a:xfrm>
            <a:off x="704528" y="2024844"/>
            <a:ext cx="5328592" cy="576064"/>
          </a:xfrm>
          <a:prstGeom prst="rect">
            <a:avLst/>
          </a:prstGeom>
          <a:noFill/>
          <a:ln w="28575">
            <a:solidFill>
              <a:srgbClr val="66FF33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1C8815E-C416-48CB-8420-90DC0795C106}"/>
              </a:ext>
            </a:extLst>
          </p:cNvPr>
          <p:cNvSpPr/>
          <p:nvPr/>
        </p:nvSpPr>
        <p:spPr>
          <a:xfrm>
            <a:off x="704528" y="2937150"/>
            <a:ext cx="5328592" cy="1247934"/>
          </a:xfrm>
          <a:prstGeom prst="rect">
            <a:avLst/>
          </a:prstGeom>
          <a:noFill/>
          <a:ln w="28575">
            <a:solidFill>
              <a:srgbClr val="66FF33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3727E1C-E5A2-4825-94D7-2204EEF0592B}"/>
              </a:ext>
            </a:extLst>
          </p:cNvPr>
          <p:cNvSpPr/>
          <p:nvPr/>
        </p:nvSpPr>
        <p:spPr>
          <a:xfrm>
            <a:off x="704528" y="4368926"/>
            <a:ext cx="5328592" cy="464230"/>
          </a:xfrm>
          <a:prstGeom prst="rect">
            <a:avLst/>
          </a:prstGeom>
          <a:noFill/>
          <a:ln w="28575">
            <a:solidFill>
              <a:srgbClr val="66FF33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F8521F57-EA92-46A0-883E-05FEDA97D44E}"/>
              </a:ext>
            </a:extLst>
          </p:cNvPr>
          <p:cNvSpPr/>
          <p:nvPr/>
        </p:nvSpPr>
        <p:spPr>
          <a:xfrm>
            <a:off x="6023249" y="1689795"/>
            <a:ext cx="288032" cy="288147"/>
          </a:xfrm>
          <a:prstGeom prst="ellipse">
            <a:avLst/>
          </a:prstGeom>
          <a:noFill/>
          <a:ln w="9525">
            <a:solidFill>
              <a:srgbClr val="66FF33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DB98D3-E67F-4DC3-A76F-721B352E7E48}"/>
              </a:ext>
            </a:extLst>
          </p:cNvPr>
          <p:cNvSpPr txBox="1"/>
          <p:nvPr/>
        </p:nvSpPr>
        <p:spPr>
          <a:xfrm>
            <a:off x="6016217" y="1689795"/>
            <a:ext cx="288032" cy="288147"/>
          </a:xfrm>
          <a:prstGeom prst="rect">
            <a:avLst/>
          </a:prstGeom>
          <a:noFill/>
        </p:spPr>
        <p:txBody>
          <a:bodyPr wrap="square" lIns="108000" tIns="36000" rIns="108000" bIns="36000" rtlCol="0">
            <a:spAutoFit/>
          </a:bodyPr>
          <a:lstStyle/>
          <a:p>
            <a:r>
              <a:rPr lang="en-US" altLang="ko-KR" sz="1400" dirty="0">
                <a:solidFill>
                  <a:srgbClr val="66FF33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1</a:t>
            </a:r>
            <a:endParaRPr lang="ko-KR" altLang="en-US" sz="1400" dirty="0" err="1">
              <a:solidFill>
                <a:srgbClr val="66FF33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2A08D8-A699-4AE5-9278-93B4E0B8F121}"/>
              </a:ext>
            </a:extLst>
          </p:cNvPr>
          <p:cNvSpPr txBox="1"/>
          <p:nvPr/>
        </p:nvSpPr>
        <p:spPr>
          <a:xfrm>
            <a:off x="6057120" y="2711620"/>
            <a:ext cx="288032" cy="288147"/>
          </a:xfrm>
          <a:prstGeom prst="rect">
            <a:avLst/>
          </a:prstGeom>
          <a:noFill/>
        </p:spPr>
        <p:txBody>
          <a:bodyPr wrap="square" lIns="108000" tIns="36000" rIns="108000" bIns="36000" rtlCol="0">
            <a:spAutoFit/>
          </a:bodyPr>
          <a:lstStyle/>
          <a:p>
            <a:r>
              <a:rPr lang="en-US" altLang="ko-KR" sz="1400" dirty="0">
                <a:solidFill>
                  <a:srgbClr val="66FF33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2</a:t>
            </a:r>
            <a:endParaRPr lang="ko-KR" altLang="en-US" sz="1400" dirty="0" err="1">
              <a:solidFill>
                <a:srgbClr val="66FF33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D81F50-492B-4A89-8E2D-0F2FB0B6DDF7}"/>
              </a:ext>
            </a:extLst>
          </p:cNvPr>
          <p:cNvSpPr txBox="1"/>
          <p:nvPr/>
        </p:nvSpPr>
        <p:spPr>
          <a:xfrm>
            <a:off x="6057120" y="4257909"/>
            <a:ext cx="288032" cy="288147"/>
          </a:xfrm>
          <a:prstGeom prst="rect">
            <a:avLst/>
          </a:prstGeom>
          <a:noFill/>
        </p:spPr>
        <p:txBody>
          <a:bodyPr wrap="square" lIns="108000" tIns="36000" rIns="108000" bIns="36000" rtlCol="0">
            <a:spAutoFit/>
          </a:bodyPr>
          <a:lstStyle/>
          <a:p>
            <a:r>
              <a:rPr lang="en-US" altLang="ko-KR" sz="1400" dirty="0">
                <a:solidFill>
                  <a:srgbClr val="66FF33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3</a:t>
            </a:r>
            <a:endParaRPr lang="ko-KR" altLang="en-US" sz="1400" dirty="0" err="1">
              <a:solidFill>
                <a:srgbClr val="66FF33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0543129E-312A-4425-B3A7-CB596EB62307}"/>
              </a:ext>
            </a:extLst>
          </p:cNvPr>
          <p:cNvSpPr/>
          <p:nvPr/>
        </p:nvSpPr>
        <p:spPr>
          <a:xfrm>
            <a:off x="6065858" y="2711619"/>
            <a:ext cx="288032" cy="288147"/>
          </a:xfrm>
          <a:prstGeom prst="ellipse">
            <a:avLst/>
          </a:prstGeom>
          <a:noFill/>
          <a:ln w="9525">
            <a:solidFill>
              <a:srgbClr val="66FF33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A9B96005-E8AC-461C-8416-887549A3C20B}"/>
              </a:ext>
            </a:extLst>
          </p:cNvPr>
          <p:cNvSpPr/>
          <p:nvPr/>
        </p:nvSpPr>
        <p:spPr>
          <a:xfrm>
            <a:off x="6065654" y="4255746"/>
            <a:ext cx="288032" cy="288147"/>
          </a:xfrm>
          <a:prstGeom prst="ellipse">
            <a:avLst/>
          </a:prstGeom>
          <a:noFill/>
          <a:ln w="9525">
            <a:solidFill>
              <a:srgbClr val="66FF33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44B09112-18E9-43A6-976B-E3E5BEADD3B4}"/>
              </a:ext>
            </a:extLst>
          </p:cNvPr>
          <p:cNvSpPr/>
          <p:nvPr/>
        </p:nvSpPr>
        <p:spPr>
          <a:xfrm>
            <a:off x="2396716" y="3732290"/>
            <a:ext cx="288032" cy="288147"/>
          </a:xfrm>
          <a:prstGeom prst="ellipse">
            <a:avLst/>
          </a:prstGeom>
          <a:noFill/>
          <a:ln w="9525">
            <a:solidFill>
              <a:srgbClr val="66FF33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B11D43-C89C-4AE3-8FAE-3FFC4C42F3B9}"/>
              </a:ext>
            </a:extLst>
          </p:cNvPr>
          <p:cNvSpPr txBox="1"/>
          <p:nvPr/>
        </p:nvSpPr>
        <p:spPr>
          <a:xfrm>
            <a:off x="2338437" y="3753036"/>
            <a:ext cx="526331" cy="241980"/>
          </a:xfrm>
          <a:prstGeom prst="rect">
            <a:avLst/>
          </a:prstGeom>
          <a:noFill/>
        </p:spPr>
        <p:txBody>
          <a:bodyPr wrap="square" lIns="108000" tIns="36000" rIns="108000" bIns="36000" rtlCol="0">
            <a:spAutoFit/>
          </a:bodyPr>
          <a:lstStyle/>
          <a:p>
            <a:r>
              <a:rPr lang="en-US" altLang="ko-KR" sz="1050" dirty="0">
                <a:solidFill>
                  <a:srgbClr val="66FF33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2-1</a:t>
            </a:r>
            <a:endParaRPr lang="ko-KR" altLang="en-US" sz="1050" dirty="0" err="1">
              <a:solidFill>
                <a:srgbClr val="66FF33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A83AB7-19D3-4779-B444-162680BEBDBD}"/>
              </a:ext>
            </a:extLst>
          </p:cNvPr>
          <p:cNvSpPr txBox="1"/>
          <p:nvPr/>
        </p:nvSpPr>
        <p:spPr>
          <a:xfrm>
            <a:off x="1330325" y="3133014"/>
            <a:ext cx="526331" cy="241980"/>
          </a:xfrm>
          <a:prstGeom prst="rect">
            <a:avLst/>
          </a:prstGeom>
          <a:noFill/>
        </p:spPr>
        <p:txBody>
          <a:bodyPr wrap="square" lIns="108000" tIns="36000" rIns="108000" bIns="36000" rtlCol="0">
            <a:spAutoFit/>
          </a:bodyPr>
          <a:lstStyle/>
          <a:p>
            <a:r>
              <a:rPr lang="en-US" altLang="ko-KR" sz="1050" dirty="0">
                <a:solidFill>
                  <a:srgbClr val="66FF33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2-2</a:t>
            </a:r>
            <a:endParaRPr lang="ko-KR" altLang="en-US" sz="1050" dirty="0" err="1">
              <a:solidFill>
                <a:srgbClr val="66FF33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91B26688-38EE-475D-AF3A-FFD193E59A90}"/>
              </a:ext>
            </a:extLst>
          </p:cNvPr>
          <p:cNvSpPr/>
          <p:nvPr/>
        </p:nvSpPr>
        <p:spPr>
          <a:xfrm>
            <a:off x="1376763" y="3109930"/>
            <a:ext cx="288032" cy="288147"/>
          </a:xfrm>
          <a:prstGeom prst="ellipse">
            <a:avLst/>
          </a:prstGeom>
          <a:noFill/>
          <a:ln w="9525">
            <a:solidFill>
              <a:srgbClr val="66FF33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E57C3CD-A7EA-465C-A159-B9315B6353A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92" y="745320"/>
            <a:ext cx="5994000" cy="5630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627102" y="749389"/>
            <a:ext cx="3002970" cy="5631939"/>
          </a:xfrm>
          <a:prstGeom prst="roundRect">
            <a:avLst>
              <a:gd name="adj" fmla="val 1818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</a:ln>
        </p:spPr>
        <p:txBody>
          <a:bodyPr vert="horz" wrap="square" lIns="51594" tIns="51594" rIns="51594" bIns="51594" rtlCol="0" anchor="ctr"/>
          <a:lstStyle/>
          <a:p>
            <a:pPr algn="ctr">
              <a:defRPr/>
            </a:pPr>
            <a:endParaRPr sz="1463"/>
          </a:p>
        </p:txBody>
      </p:sp>
      <p:sp>
        <p:nvSpPr>
          <p:cNvPr id="8" name="AutoShape 8"/>
          <p:cNvSpPr txBox="1"/>
          <p:nvPr/>
        </p:nvSpPr>
        <p:spPr>
          <a:xfrm>
            <a:off x="6753200" y="836712"/>
            <a:ext cx="2664296" cy="5400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25000"/>
              </a:lnSpc>
              <a:defRPr/>
            </a:pP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1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번 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(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박스 사이즈 </a:t>
            </a:r>
            <a:r>
              <a:rPr lang="ko-KR" altLang="en-US" sz="1200" b="1" dirty="0" err="1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입력칸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)</a:t>
            </a:r>
          </a:p>
          <a:p>
            <a:pPr marL="285750" indent="-285750">
              <a:lnSpc>
                <a:spcPct val="125000"/>
              </a:lnSpc>
              <a:buFontTx/>
              <a:buChar char="-"/>
              <a:defRPr/>
            </a:pP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원하시는 포장 박스의 사이즈를 입력하시면 됩니다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.</a:t>
            </a:r>
            <a:b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</a:b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(ex. 900, 550, 400)</a:t>
            </a:r>
          </a:p>
          <a:p>
            <a:pPr>
              <a:lnSpc>
                <a:spcPct val="125000"/>
              </a:lnSpc>
              <a:defRPr/>
            </a:pPr>
            <a:b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</a:br>
            <a:endParaRPr lang="en-US" altLang="ko-KR" sz="1200" b="1" dirty="0">
              <a:solidFill>
                <a:schemeClr val="bg1">
                  <a:lumMod val="75000"/>
                </a:schemeClr>
              </a:solidFill>
              <a:latin typeface="Noto Sans SC"/>
              <a:ea typeface="현대하모니 M" panose="02020603020101020101"/>
              <a:cs typeface="Noto Sans SC"/>
              <a:sym typeface="Noto Sans SC"/>
            </a:endParaRPr>
          </a:p>
          <a:p>
            <a:pPr marL="285750" indent="-285750">
              <a:lnSpc>
                <a:spcPct val="125000"/>
              </a:lnSpc>
              <a:buFontTx/>
              <a:buChar char="-"/>
              <a:defRPr/>
            </a:pPr>
            <a:endParaRPr lang="en-US" altLang="ko-KR" sz="1200" b="1" dirty="0">
              <a:solidFill>
                <a:schemeClr val="bg1">
                  <a:lumMod val="75000"/>
                </a:schemeClr>
              </a:solidFill>
              <a:latin typeface="Noto Sans SC"/>
              <a:ea typeface="현대하모니 M" panose="02020603020101020101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2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번 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(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제품 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BOM </a:t>
            </a:r>
            <a:r>
              <a:rPr lang="ko-KR" altLang="en-US" sz="1200" b="1" dirty="0" err="1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입력칸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)</a:t>
            </a:r>
          </a:p>
          <a:p>
            <a:pPr marL="285750" indent="-285750">
              <a:lnSpc>
                <a:spcPct val="125000"/>
              </a:lnSpc>
              <a:buFontTx/>
              <a:buChar char="-"/>
              <a:defRPr/>
            </a:pP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2-1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번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: 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부품의 개수만큼 행 추가를 진행합니다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. 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행 삭제를 누르면 마지막 행이 삭제됩니다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.</a:t>
            </a:r>
          </a:p>
          <a:p>
            <a:pPr>
              <a:lnSpc>
                <a:spcPct val="125000"/>
              </a:lnSpc>
              <a:defRPr/>
            </a:pPr>
            <a:endParaRPr lang="en-US" altLang="ko-KR" sz="1200" dirty="0">
              <a:solidFill>
                <a:schemeClr val="bg1">
                  <a:lumMod val="75000"/>
                </a:schemeClr>
              </a:solidFill>
              <a:latin typeface="Noto Sans SC"/>
              <a:ea typeface="현대하모니 M" panose="02020603020101020101"/>
              <a:cs typeface="Noto Sans SC"/>
              <a:sym typeface="Noto Sans SC"/>
            </a:endParaRPr>
          </a:p>
          <a:p>
            <a:pPr marL="285750" indent="-285750">
              <a:lnSpc>
                <a:spcPct val="125000"/>
              </a:lnSpc>
              <a:buFontTx/>
              <a:buChar char="-"/>
              <a:defRPr/>
            </a:pP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2-2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번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: 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박스에 들어갈 부품의 이름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,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 제품 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1 SET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당 들어갈 부품의 개수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, 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사이즈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, 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무게를 입력하고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, 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적재방식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(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눕히기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, 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세우기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, 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자유롭게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)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을 선택합니다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.</a:t>
            </a:r>
          </a:p>
          <a:p>
            <a:pPr>
              <a:lnSpc>
                <a:spcPct val="125000"/>
              </a:lnSpc>
              <a:defRPr/>
            </a:pPr>
            <a:b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</a:br>
            <a:endParaRPr lang="en-US" altLang="ko-KR" sz="1200" b="1" dirty="0">
              <a:solidFill>
                <a:schemeClr val="bg1">
                  <a:lumMod val="75000"/>
                </a:schemeClr>
              </a:solidFill>
              <a:latin typeface="Noto Sans SC"/>
              <a:ea typeface="현대하모니 M" panose="02020603020101020101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3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번 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(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계산하는 버튼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)</a:t>
            </a:r>
          </a:p>
          <a:p>
            <a:pPr marL="285750" indent="-285750">
              <a:lnSpc>
                <a:spcPct val="125000"/>
              </a:lnSpc>
              <a:buFontTx/>
              <a:buChar char="-"/>
              <a:defRPr/>
            </a:pP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위 사항들을 입력 후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, 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계산 버튼을 누르면 계산이 진행됩니다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.</a:t>
            </a:r>
          </a:p>
          <a:p>
            <a:pPr>
              <a:lnSpc>
                <a:spcPct val="125000"/>
              </a:lnSpc>
              <a:defRPr/>
            </a:pPr>
            <a:endParaRPr lang="en-US" altLang="ko-KR" sz="1400" b="1" dirty="0">
              <a:solidFill>
                <a:srgbClr val="1E50A0"/>
              </a:solidFill>
              <a:latin typeface="Noto Sans SC"/>
              <a:ea typeface="현대하모니 M" panose="02020603020101020101"/>
              <a:cs typeface="Noto Sans SC"/>
              <a:sym typeface="Noto Sans SC"/>
            </a:endParaRPr>
          </a:p>
        </p:txBody>
      </p:sp>
      <p:sp>
        <p:nvSpPr>
          <p:cNvPr id="13" name="AutoShape 3">
            <a:extLst>
              <a:ext uri="{FF2B5EF4-FFF2-40B4-BE49-F238E27FC236}">
                <a16:creationId xmlns:a16="http://schemas.microsoft.com/office/drawing/2014/main" id="{88B75976-8C90-4BEA-9EB1-CDEAAD13EB73}"/>
              </a:ext>
            </a:extLst>
          </p:cNvPr>
          <p:cNvSpPr txBox="1"/>
          <p:nvPr/>
        </p:nvSpPr>
        <p:spPr>
          <a:xfrm>
            <a:off x="308484" y="111521"/>
            <a:ext cx="8048625" cy="4540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ko-KR" sz="2113" b="1" dirty="0" err="1">
                <a:solidFill>
                  <a:srgbClr val="141414"/>
                </a:solidFill>
                <a:latin typeface="Noto Sans SC"/>
                <a:ea typeface="Noto Sans SC"/>
                <a:cs typeface="Noto Sans SC"/>
                <a:sym typeface="Noto Sans SC"/>
              </a:rPr>
              <a:t>사용</a:t>
            </a:r>
            <a:r>
              <a:rPr lang="en-US" altLang="ko-KR" sz="2113" b="1" dirty="0">
                <a:solidFill>
                  <a:srgbClr val="141414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altLang="ko-KR" sz="2113" b="1" dirty="0" err="1">
                <a:solidFill>
                  <a:srgbClr val="141414"/>
                </a:solidFill>
                <a:latin typeface="Noto Sans SC"/>
                <a:ea typeface="Noto Sans SC"/>
                <a:cs typeface="Noto Sans SC"/>
                <a:sym typeface="Noto Sans SC"/>
              </a:rPr>
              <a:t>가이드</a:t>
            </a:r>
            <a:r>
              <a:rPr lang="en-US" altLang="ko-KR" sz="2113" b="1" dirty="0">
                <a:solidFill>
                  <a:srgbClr val="141414"/>
                </a:solidFill>
                <a:latin typeface="Noto Sans SC"/>
                <a:ea typeface="Noto Sans SC"/>
                <a:cs typeface="Noto Sans SC"/>
                <a:sym typeface="Noto Sans SC"/>
              </a:rPr>
              <a:t> (1) — </a:t>
            </a:r>
            <a:r>
              <a:rPr lang="ko-KR" altLang="en-US" sz="2113" b="1" dirty="0">
                <a:solidFill>
                  <a:srgbClr val="141414"/>
                </a:solidFill>
                <a:latin typeface="Noto Sans SC"/>
                <a:ea typeface="Noto Sans SC"/>
                <a:cs typeface="Noto Sans SC"/>
                <a:sym typeface="Noto Sans SC"/>
              </a:rPr>
              <a:t>정보 입력 후</a:t>
            </a:r>
            <a:r>
              <a:rPr lang="en-US" altLang="ko-KR" sz="2113" b="1" dirty="0">
                <a:solidFill>
                  <a:srgbClr val="141414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altLang="ko-KR" sz="2113" b="1" dirty="0" err="1">
                <a:solidFill>
                  <a:srgbClr val="141414"/>
                </a:solidFill>
                <a:latin typeface="Noto Sans SC"/>
                <a:ea typeface="Noto Sans SC"/>
                <a:cs typeface="Noto Sans SC"/>
                <a:sym typeface="Noto Sans SC"/>
              </a:rPr>
              <a:t>화면</a:t>
            </a:r>
            <a:endParaRPr lang="en-US" altLang="ko-KR" sz="894" dirty="0"/>
          </a:p>
        </p:txBody>
      </p:sp>
    </p:spTree>
    <p:extLst>
      <p:ext uri="{BB962C8B-B14F-4D97-AF65-F5344CB8AC3E}">
        <p14:creationId xmlns:p14="http://schemas.microsoft.com/office/powerpoint/2010/main" val="3658571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utoShape 3">
            <a:extLst>
              <a:ext uri="{FF2B5EF4-FFF2-40B4-BE49-F238E27FC236}">
                <a16:creationId xmlns:a16="http://schemas.microsoft.com/office/drawing/2014/main" id="{50B4038D-A14B-4072-B61B-D865CD16164B}"/>
              </a:ext>
            </a:extLst>
          </p:cNvPr>
          <p:cNvSpPr txBox="1"/>
          <p:nvPr/>
        </p:nvSpPr>
        <p:spPr>
          <a:xfrm>
            <a:off x="308484" y="111521"/>
            <a:ext cx="8048625" cy="4540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ko-KR" sz="2113" b="1" dirty="0" err="1">
                <a:solidFill>
                  <a:srgbClr val="141414"/>
                </a:solidFill>
                <a:latin typeface="Noto Sans SC"/>
                <a:ea typeface="Noto Sans SC"/>
                <a:cs typeface="Noto Sans SC"/>
                <a:sym typeface="Noto Sans SC"/>
              </a:rPr>
              <a:t>사용</a:t>
            </a:r>
            <a:r>
              <a:rPr lang="en-US" altLang="ko-KR" sz="2113" b="1" dirty="0">
                <a:solidFill>
                  <a:srgbClr val="141414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altLang="ko-KR" sz="2113" b="1" dirty="0" err="1">
                <a:solidFill>
                  <a:srgbClr val="141414"/>
                </a:solidFill>
                <a:latin typeface="Noto Sans SC"/>
                <a:ea typeface="Noto Sans SC"/>
                <a:cs typeface="Noto Sans SC"/>
                <a:sym typeface="Noto Sans SC"/>
              </a:rPr>
              <a:t>가이드</a:t>
            </a:r>
            <a:r>
              <a:rPr lang="en-US" altLang="ko-KR" sz="2113" b="1" dirty="0">
                <a:solidFill>
                  <a:srgbClr val="141414"/>
                </a:solidFill>
                <a:latin typeface="Noto Sans SC"/>
                <a:ea typeface="Noto Sans SC"/>
                <a:cs typeface="Noto Sans SC"/>
                <a:sym typeface="Noto Sans SC"/>
              </a:rPr>
              <a:t> (2) — </a:t>
            </a:r>
            <a:r>
              <a:rPr lang="ko-KR" altLang="en-US" sz="2113" b="1" dirty="0">
                <a:solidFill>
                  <a:srgbClr val="141414"/>
                </a:solidFill>
                <a:latin typeface="Noto Sans SC"/>
                <a:ea typeface="Noto Sans SC"/>
                <a:cs typeface="Noto Sans SC"/>
                <a:sym typeface="Noto Sans SC"/>
              </a:rPr>
              <a:t>결과 확인 및 등각 적재도 생성</a:t>
            </a:r>
            <a:endParaRPr lang="en-US" altLang="ko-KR" sz="894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2B91CF1-E82E-4E9E-9F1A-BB6CBFC171C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92" y="745395"/>
            <a:ext cx="5994000" cy="5630400"/>
          </a:xfrm>
          <a:prstGeom prst="rect">
            <a:avLst/>
          </a:prstGeom>
        </p:spPr>
      </p:pic>
      <p:sp>
        <p:nvSpPr>
          <p:cNvPr id="17" name="AutoShape 7">
            <a:extLst>
              <a:ext uri="{FF2B5EF4-FFF2-40B4-BE49-F238E27FC236}">
                <a16:creationId xmlns:a16="http://schemas.microsoft.com/office/drawing/2014/main" id="{98E89AE2-0DF1-446E-A711-C2BCF7A7A8CC}"/>
              </a:ext>
            </a:extLst>
          </p:cNvPr>
          <p:cNvSpPr/>
          <p:nvPr/>
        </p:nvSpPr>
        <p:spPr>
          <a:xfrm>
            <a:off x="6627102" y="749389"/>
            <a:ext cx="3002970" cy="5631939"/>
          </a:xfrm>
          <a:prstGeom prst="roundRect">
            <a:avLst>
              <a:gd name="adj" fmla="val 1818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</a:ln>
        </p:spPr>
        <p:txBody>
          <a:bodyPr vert="horz" wrap="square" lIns="51594" tIns="51594" rIns="51594" bIns="51594" rtlCol="0" anchor="ctr"/>
          <a:lstStyle/>
          <a:p>
            <a:pPr algn="ctr">
              <a:defRPr/>
            </a:pPr>
            <a:endParaRPr sz="1463"/>
          </a:p>
        </p:txBody>
      </p:sp>
      <p:sp>
        <p:nvSpPr>
          <p:cNvPr id="18" name="AutoShape 8">
            <a:extLst>
              <a:ext uri="{FF2B5EF4-FFF2-40B4-BE49-F238E27FC236}">
                <a16:creationId xmlns:a16="http://schemas.microsoft.com/office/drawing/2014/main" id="{EC17809B-1D9D-4739-BE50-0E675009291D}"/>
              </a:ext>
            </a:extLst>
          </p:cNvPr>
          <p:cNvSpPr txBox="1"/>
          <p:nvPr/>
        </p:nvSpPr>
        <p:spPr>
          <a:xfrm>
            <a:off x="6753200" y="836712"/>
            <a:ext cx="2664296" cy="5400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25000"/>
              </a:lnSpc>
              <a:defRPr/>
            </a:pPr>
            <a:r>
              <a:rPr lang="en-US" altLang="ko-KR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4</a:t>
            </a:r>
            <a:r>
              <a:rPr lang="ko-KR" altLang="en-US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번 </a:t>
            </a:r>
            <a:r>
              <a:rPr lang="en-US" altLang="ko-KR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(</a:t>
            </a:r>
            <a:r>
              <a:rPr lang="ko-KR" altLang="en-US" sz="1200" b="1" dirty="0" err="1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결과창</a:t>
            </a:r>
            <a:r>
              <a:rPr lang="en-US" altLang="ko-KR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)</a:t>
            </a:r>
          </a:p>
          <a:p>
            <a:pPr marL="285750" indent="-285750">
              <a:lnSpc>
                <a:spcPct val="125000"/>
              </a:lnSpc>
              <a:buFontTx/>
              <a:buChar char="-"/>
              <a:defRPr/>
            </a:pP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1 </a:t>
            </a:r>
            <a:r>
              <a:rPr lang="ko-KR" altLang="en-US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박스 당 들어갈 수 있는 최대 </a:t>
            </a: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SET </a:t>
            </a:r>
            <a:r>
              <a:rPr lang="ko-KR" altLang="en-US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수량과 총 적재 무게</a:t>
            </a: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(</a:t>
            </a:r>
            <a:r>
              <a:rPr lang="ko-KR" altLang="en-US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박스 무게 미포함</a:t>
            </a: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)</a:t>
            </a:r>
            <a:r>
              <a:rPr lang="ko-KR" altLang="en-US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를 확인할 수 있습니다</a:t>
            </a: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.</a:t>
            </a:r>
          </a:p>
          <a:p>
            <a:pPr>
              <a:lnSpc>
                <a:spcPct val="125000"/>
              </a:lnSpc>
              <a:defRPr/>
            </a:pPr>
            <a:br>
              <a:rPr lang="en-US" altLang="ko-KR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</a:br>
            <a:endParaRPr lang="en-US" altLang="ko-KR" sz="1200" b="1" dirty="0">
              <a:solidFill>
                <a:srgbClr val="1E50A0"/>
              </a:solidFill>
              <a:latin typeface="Noto Sans SC"/>
              <a:ea typeface="현대하모니 M" panose="02020603020101020101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  <a:defRPr/>
            </a:pPr>
            <a:br>
              <a:rPr lang="en-US" altLang="ko-KR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</a:br>
            <a:endParaRPr lang="en-US" altLang="ko-KR" sz="1200" b="1" dirty="0">
              <a:solidFill>
                <a:srgbClr val="1E50A0"/>
              </a:solidFill>
              <a:latin typeface="Noto Sans SC"/>
              <a:ea typeface="현대하모니 M" panose="02020603020101020101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ko-KR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5</a:t>
            </a:r>
            <a:r>
              <a:rPr lang="ko-KR" altLang="en-US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번 </a:t>
            </a:r>
            <a:r>
              <a:rPr lang="en-US" altLang="ko-KR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(</a:t>
            </a:r>
            <a:r>
              <a:rPr lang="ko-KR" altLang="en-US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등각 적재도 미리보기</a:t>
            </a:r>
            <a:r>
              <a:rPr lang="en-US" altLang="ko-KR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)</a:t>
            </a:r>
          </a:p>
          <a:p>
            <a:pPr marL="285750" indent="-285750">
              <a:lnSpc>
                <a:spcPct val="125000"/>
              </a:lnSpc>
              <a:buFontTx/>
              <a:buChar char="-"/>
              <a:defRPr/>
            </a:pPr>
            <a:r>
              <a:rPr lang="ko-KR" altLang="en-US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박스는 흰색</a:t>
            </a: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, </a:t>
            </a:r>
            <a:r>
              <a:rPr lang="ko-KR" altLang="en-US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부품은 서로 다른 색으로 구분됩니다</a:t>
            </a: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. </a:t>
            </a:r>
          </a:p>
          <a:p>
            <a:pPr marL="285750" indent="-285750">
              <a:lnSpc>
                <a:spcPct val="125000"/>
              </a:lnSpc>
              <a:buFontTx/>
              <a:buChar char="-"/>
              <a:defRPr/>
            </a:pPr>
            <a:endParaRPr lang="en-US" altLang="ko-KR" sz="1200" dirty="0">
              <a:solidFill>
                <a:srgbClr val="1E50A0"/>
              </a:solidFill>
              <a:latin typeface="Noto Sans SC"/>
              <a:ea typeface="현대하모니 M" panose="02020603020101020101"/>
              <a:cs typeface="Noto Sans SC"/>
              <a:sym typeface="Noto Sans SC"/>
            </a:endParaRPr>
          </a:p>
          <a:p>
            <a:pPr marL="285750" indent="-285750">
              <a:lnSpc>
                <a:spcPct val="125000"/>
              </a:lnSpc>
              <a:buFontTx/>
              <a:buChar char="-"/>
              <a:defRPr/>
            </a:pPr>
            <a:r>
              <a:rPr lang="ko-KR" altLang="en-US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시각화 된 적재도는 회전</a:t>
            </a: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, </a:t>
            </a:r>
            <a:r>
              <a:rPr lang="ko-KR" altLang="en-US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확대</a:t>
            </a: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, </a:t>
            </a:r>
            <a:r>
              <a:rPr lang="ko-KR" altLang="en-US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이동이 가능하여 적재 상태를 꼼꼼히 확인할 수 있습니다</a:t>
            </a: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.</a:t>
            </a:r>
          </a:p>
          <a:p>
            <a:pPr>
              <a:lnSpc>
                <a:spcPct val="125000"/>
              </a:lnSpc>
              <a:defRPr/>
            </a:pPr>
            <a:br>
              <a:rPr lang="en-US" altLang="ko-KR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</a:br>
            <a:br>
              <a:rPr lang="en-US" altLang="ko-KR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</a:br>
            <a:endParaRPr lang="en-US" altLang="ko-KR" sz="1200" b="1" dirty="0">
              <a:solidFill>
                <a:srgbClr val="1E50A0"/>
              </a:solidFill>
              <a:latin typeface="Noto Sans SC"/>
              <a:ea typeface="현대하모니 M" panose="02020603020101020101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  <a:defRPr/>
            </a:pPr>
            <a:endParaRPr lang="en-US" altLang="ko-KR" sz="1200" b="1" dirty="0">
              <a:solidFill>
                <a:srgbClr val="1E50A0"/>
              </a:solidFill>
              <a:latin typeface="Noto Sans SC"/>
              <a:ea typeface="현대하모니 M" panose="02020603020101020101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ko-KR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6</a:t>
            </a:r>
            <a:r>
              <a:rPr lang="ko-KR" altLang="en-US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번 </a:t>
            </a:r>
            <a:r>
              <a:rPr lang="en-US" altLang="ko-KR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(</a:t>
            </a:r>
            <a:r>
              <a:rPr lang="ko-KR" altLang="en-US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등각 적재도 생성 버튼</a:t>
            </a:r>
            <a:r>
              <a:rPr lang="en-US" altLang="ko-KR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)</a:t>
            </a:r>
          </a:p>
          <a:p>
            <a:pPr marL="285750" indent="-285750">
              <a:lnSpc>
                <a:spcPct val="125000"/>
              </a:lnSpc>
              <a:buFontTx/>
              <a:buChar char="-"/>
              <a:defRPr/>
            </a:pPr>
            <a:r>
              <a:rPr lang="ko-KR" altLang="en-US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직접 포장을 하는 담당자에게 제공할 등각 적재도 </a:t>
            </a: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2</a:t>
            </a:r>
            <a:r>
              <a:rPr lang="ko-KR" altLang="en-US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컷을 생성합니다</a:t>
            </a: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.</a:t>
            </a:r>
          </a:p>
          <a:p>
            <a:pPr marL="285750" indent="-285750">
              <a:lnSpc>
                <a:spcPct val="125000"/>
              </a:lnSpc>
              <a:buFontTx/>
              <a:buChar char="-"/>
              <a:defRPr/>
            </a:pPr>
            <a:endParaRPr lang="en-US" altLang="ko-KR" sz="1400" b="1" dirty="0">
              <a:solidFill>
                <a:srgbClr val="1E50A0"/>
              </a:solidFill>
              <a:latin typeface="Noto Sans SC"/>
              <a:ea typeface="현대하모니 M" panose="02020603020101020101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  <a:defRPr/>
            </a:pPr>
            <a:endParaRPr lang="en-US" altLang="ko-KR" sz="1400" b="1" dirty="0">
              <a:solidFill>
                <a:srgbClr val="1E50A0"/>
              </a:solidFill>
              <a:latin typeface="Noto Sans SC"/>
              <a:ea typeface="현대하모니 M" panose="02020603020101020101"/>
              <a:cs typeface="Noto Sans SC"/>
              <a:sym typeface="Noto Sans SC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2F66D1E-04D2-4184-9F68-11FF35A63D5E}"/>
              </a:ext>
            </a:extLst>
          </p:cNvPr>
          <p:cNvSpPr/>
          <p:nvPr/>
        </p:nvSpPr>
        <p:spPr>
          <a:xfrm>
            <a:off x="643358" y="1569202"/>
            <a:ext cx="3396603" cy="428080"/>
          </a:xfrm>
          <a:prstGeom prst="rect">
            <a:avLst/>
          </a:prstGeom>
          <a:noFill/>
          <a:ln w="28575">
            <a:solidFill>
              <a:srgbClr val="66FF33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109F115-FE0B-43E5-9CC4-E9C58617A615}"/>
              </a:ext>
            </a:extLst>
          </p:cNvPr>
          <p:cNvSpPr/>
          <p:nvPr/>
        </p:nvSpPr>
        <p:spPr>
          <a:xfrm>
            <a:off x="650844" y="2564904"/>
            <a:ext cx="5310268" cy="3810891"/>
          </a:xfrm>
          <a:prstGeom prst="rect">
            <a:avLst/>
          </a:prstGeom>
          <a:noFill/>
          <a:ln w="28575">
            <a:solidFill>
              <a:srgbClr val="66FF33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0CF867-FEDB-43CF-BDEF-BA64E57D3687}"/>
              </a:ext>
            </a:extLst>
          </p:cNvPr>
          <p:cNvSpPr txBox="1"/>
          <p:nvPr/>
        </p:nvSpPr>
        <p:spPr>
          <a:xfrm>
            <a:off x="4095846" y="1532888"/>
            <a:ext cx="288032" cy="288147"/>
          </a:xfrm>
          <a:prstGeom prst="rect">
            <a:avLst/>
          </a:prstGeom>
          <a:noFill/>
        </p:spPr>
        <p:txBody>
          <a:bodyPr wrap="square" lIns="108000" tIns="36000" rIns="108000" bIns="36000" rtlCol="0">
            <a:spAutoFit/>
          </a:bodyPr>
          <a:lstStyle/>
          <a:p>
            <a:r>
              <a:rPr lang="en-US" altLang="ko-KR" sz="1400" dirty="0">
                <a:solidFill>
                  <a:srgbClr val="66FF33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4</a:t>
            </a:r>
            <a:endParaRPr lang="ko-KR" altLang="en-US" sz="1400" dirty="0" err="1">
              <a:solidFill>
                <a:srgbClr val="66FF33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C69F5F6A-FE47-4A71-BA31-1A9794EA87E8}"/>
              </a:ext>
            </a:extLst>
          </p:cNvPr>
          <p:cNvSpPr/>
          <p:nvPr/>
        </p:nvSpPr>
        <p:spPr>
          <a:xfrm>
            <a:off x="4104413" y="1520615"/>
            <a:ext cx="288032" cy="288147"/>
          </a:xfrm>
          <a:prstGeom prst="ellipse">
            <a:avLst/>
          </a:prstGeom>
          <a:noFill/>
          <a:ln w="9525">
            <a:solidFill>
              <a:srgbClr val="66FF33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26A266D5-2190-45A9-A350-8B9CC966EE30}"/>
              </a:ext>
            </a:extLst>
          </p:cNvPr>
          <p:cNvSpPr/>
          <p:nvPr/>
        </p:nvSpPr>
        <p:spPr>
          <a:xfrm>
            <a:off x="5959623" y="2332813"/>
            <a:ext cx="288032" cy="288147"/>
          </a:xfrm>
          <a:prstGeom prst="ellipse">
            <a:avLst/>
          </a:prstGeom>
          <a:noFill/>
          <a:ln w="9525">
            <a:solidFill>
              <a:srgbClr val="66FF33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71D0AE-DA86-4FC1-977E-13F01DBA0FDC}"/>
              </a:ext>
            </a:extLst>
          </p:cNvPr>
          <p:cNvSpPr txBox="1"/>
          <p:nvPr/>
        </p:nvSpPr>
        <p:spPr>
          <a:xfrm>
            <a:off x="5951932" y="2344805"/>
            <a:ext cx="288032" cy="288147"/>
          </a:xfrm>
          <a:prstGeom prst="rect">
            <a:avLst/>
          </a:prstGeom>
          <a:noFill/>
        </p:spPr>
        <p:txBody>
          <a:bodyPr wrap="square" lIns="108000" tIns="36000" rIns="108000" bIns="36000" rtlCol="0">
            <a:spAutoFit/>
          </a:bodyPr>
          <a:lstStyle/>
          <a:p>
            <a:r>
              <a:rPr lang="en-US" altLang="ko-KR" sz="1400" dirty="0">
                <a:solidFill>
                  <a:srgbClr val="66FF33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5</a:t>
            </a:r>
            <a:endParaRPr lang="ko-KR" altLang="en-US" sz="1400" dirty="0" err="1">
              <a:solidFill>
                <a:srgbClr val="66FF33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763FC226-1F64-4E20-90B7-5F200C44EADC}"/>
              </a:ext>
            </a:extLst>
          </p:cNvPr>
          <p:cNvSpPr/>
          <p:nvPr/>
        </p:nvSpPr>
        <p:spPr>
          <a:xfrm>
            <a:off x="3704426" y="1199460"/>
            <a:ext cx="288032" cy="288147"/>
          </a:xfrm>
          <a:prstGeom prst="ellipse">
            <a:avLst/>
          </a:prstGeom>
          <a:noFill/>
          <a:ln w="9525">
            <a:solidFill>
              <a:srgbClr val="66FF33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40A8E4-7FA2-47BD-87B1-38319583140F}"/>
              </a:ext>
            </a:extLst>
          </p:cNvPr>
          <p:cNvSpPr txBox="1"/>
          <p:nvPr/>
        </p:nvSpPr>
        <p:spPr>
          <a:xfrm>
            <a:off x="3697055" y="1220195"/>
            <a:ext cx="500506" cy="288147"/>
          </a:xfrm>
          <a:prstGeom prst="rect">
            <a:avLst/>
          </a:prstGeom>
          <a:noFill/>
        </p:spPr>
        <p:txBody>
          <a:bodyPr wrap="square" lIns="108000" tIns="36000" rIns="108000" bIns="36000" rtlCol="0">
            <a:spAutoFit/>
          </a:bodyPr>
          <a:lstStyle/>
          <a:p>
            <a:r>
              <a:rPr lang="en-US" altLang="ko-KR" sz="1400" dirty="0">
                <a:solidFill>
                  <a:srgbClr val="66FF33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6</a:t>
            </a:r>
            <a:endParaRPr lang="ko-KR" altLang="en-US" sz="1400" dirty="0" err="1">
              <a:solidFill>
                <a:srgbClr val="66FF33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F6B2389-A383-4164-8F8D-D4822E2A4823}"/>
              </a:ext>
            </a:extLst>
          </p:cNvPr>
          <p:cNvSpPr/>
          <p:nvPr/>
        </p:nvSpPr>
        <p:spPr>
          <a:xfrm>
            <a:off x="3014193" y="1343534"/>
            <a:ext cx="651622" cy="199634"/>
          </a:xfrm>
          <a:prstGeom prst="rect">
            <a:avLst/>
          </a:prstGeom>
          <a:noFill/>
          <a:ln w="28575">
            <a:solidFill>
              <a:srgbClr val="66FF33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utoShape 3">
            <a:extLst>
              <a:ext uri="{FF2B5EF4-FFF2-40B4-BE49-F238E27FC236}">
                <a16:creationId xmlns:a16="http://schemas.microsoft.com/office/drawing/2014/main" id="{5070A953-72DD-4E97-B7BB-E6632765DA99}"/>
              </a:ext>
            </a:extLst>
          </p:cNvPr>
          <p:cNvSpPr txBox="1"/>
          <p:nvPr/>
        </p:nvSpPr>
        <p:spPr>
          <a:xfrm>
            <a:off x="308484" y="111521"/>
            <a:ext cx="8048625" cy="4540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ko-KR" sz="2113" b="1" dirty="0" err="1">
                <a:solidFill>
                  <a:srgbClr val="141414"/>
                </a:solidFill>
                <a:latin typeface="Noto Sans SC"/>
                <a:ea typeface="Noto Sans SC"/>
                <a:cs typeface="Noto Sans SC"/>
                <a:sym typeface="Noto Sans SC"/>
              </a:rPr>
              <a:t>사용</a:t>
            </a:r>
            <a:r>
              <a:rPr lang="en-US" altLang="ko-KR" sz="2113" b="1" dirty="0">
                <a:solidFill>
                  <a:srgbClr val="141414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altLang="ko-KR" sz="2113" b="1" dirty="0" err="1">
                <a:solidFill>
                  <a:srgbClr val="141414"/>
                </a:solidFill>
                <a:latin typeface="Noto Sans SC"/>
                <a:ea typeface="Noto Sans SC"/>
                <a:cs typeface="Noto Sans SC"/>
                <a:sym typeface="Noto Sans SC"/>
              </a:rPr>
              <a:t>가이드</a:t>
            </a:r>
            <a:r>
              <a:rPr lang="en-US" altLang="ko-KR" sz="2113" b="1" dirty="0">
                <a:solidFill>
                  <a:srgbClr val="141414"/>
                </a:solidFill>
                <a:latin typeface="Noto Sans SC"/>
                <a:ea typeface="Noto Sans SC"/>
                <a:cs typeface="Noto Sans SC"/>
                <a:sym typeface="Noto Sans SC"/>
              </a:rPr>
              <a:t> (3) — </a:t>
            </a:r>
            <a:r>
              <a:rPr lang="ko-KR" altLang="en-US" sz="2113" b="1" dirty="0">
                <a:solidFill>
                  <a:srgbClr val="141414"/>
                </a:solidFill>
                <a:latin typeface="Noto Sans SC"/>
                <a:ea typeface="Noto Sans SC"/>
                <a:cs typeface="Noto Sans SC"/>
                <a:sym typeface="Noto Sans SC"/>
              </a:rPr>
              <a:t>등각 적재도 활용</a:t>
            </a:r>
            <a:endParaRPr lang="en-US" altLang="ko-KR" sz="894" dirty="0"/>
          </a:p>
        </p:txBody>
      </p:sp>
      <p:sp>
        <p:nvSpPr>
          <p:cNvPr id="16" name="AutoShape 7">
            <a:extLst>
              <a:ext uri="{FF2B5EF4-FFF2-40B4-BE49-F238E27FC236}">
                <a16:creationId xmlns:a16="http://schemas.microsoft.com/office/drawing/2014/main" id="{51E6D325-C1CE-41E2-82A8-FBD4BFF78762}"/>
              </a:ext>
            </a:extLst>
          </p:cNvPr>
          <p:cNvSpPr/>
          <p:nvPr/>
        </p:nvSpPr>
        <p:spPr>
          <a:xfrm>
            <a:off x="6627102" y="749389"/>
            <a:ext cx="3002970" cy="5631939"/>
          </a:xfrm>
          <a:prstGeom prst="roundRect">
            <a:avLst>
              <a:gd name="adj" fmla="val 1818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</a:ln>
        </p:spPr>
        <p:txBody>
          <a:bodyPr vert="horz" wrap="square" lIns="51594" tIns="51594" rIns="51594" bIns="51594" rtlCol="0" anchor="ctr"/>
          <a:lstStyle/>
          <a:p>
            <a:pPr algn="ctr">
              <a:defRPr/>
            </a:pPr>
            <a:endParaRPr sz="1463"/>
          </a:p>
        </p:txBody>
      </p:sp>
      <p:sp>
        <p:nvSpPr>
          <p:cNvPr id="17" name="AutoShape 8">
            <a:extLst>
              <a:ext uri="{FF2B5EF4-FFF2-40B4-BE49-F238E27FC236}">
                <a16:creationId xmlns:a16="http://schemas.microsoft.com/office/drawing/2014/main" id="{B11FDC26-96AE-4506-8359-3B2D0A2F49A8}"/>
              </a:ext>
            </a:extLst>
          </p:cNvPr>
          <p:cNvSpPr txBox="1"/>
          <p:nvPr/>
        </p:nvSpPr>
        <p:spPr>
          <a:xfrm>
            <a:off x="6753200" y="836712"/>
            <a:ext cx="2664296" cy="5400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25000"/>
              </a:lnSpc>
              <a:defRPr/>
            </a:pPr>
            <a:r>
              <a:rPr lang="en-US" altLang="ko-KR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7</a:t>
            </a:r>
            <a:r>
              <a:rPr lang="ko-KR" altLang="en-US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번 </a:t>
            </a:r>
            <a:r>
              <a:rPr lang="en-US" altLang="ko-KR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(</a:t>
            </a:r>
            <a:r>
              <a:rPr lang="ko-KR" altLang="en-US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등각 적재도 다운로드 버튼</a:t>
            </a:r>
            <a:r>
              <a:rPr lang="en-US" altLang="ko-KR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)</a:t>
            </a:r>
          </a:p>
          <a:p>
            <a:pPr marL="285750" indent="-285750">
              <a:lnSpc>
                <a:spcPct val="125000"/>
              </a:lnSpc>
              <a:buFontTx/>
              <a:buChar char="-"/>
              <a:defRPr/>
            </a:pPr>
            <a:r>
              <a:rPr lang="ko-KR" altLang="en-US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등각 적재도 생성 버튼을 클릭하면</a:t>
            </a: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, </a:t>
            </a:r>
            <a:r>
              <a:rPr lang="ko-KR" altLang="en-US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약 </a:t>
            </a: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30</a:t>
            </a:r>
            <a:r>
              <a:rPr lang="ko-KR" altLang="en-US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초 후 등각 적재도 다운로드 버튼이 하단에 생성됩니다</a:t>
            </a: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. (</a:t>
            </a:r>
            <a:r>
              <a:rPr lang="ko-KR" altLang="en-US" sz="1200" dirty="0">
                <a:solidFill>
                  <a:srgbClr val="FF000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생성 중 </a:t>
            </a:r>
            <a:r>
              <a:rPr lang="ko-KR" altLang="en-US" sz="1200" dirty="0" err="1">
                <a:solidFill>
                  <a:srgbClr val="FF000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렉이</a:t>
            </a:r>
            <a:r>
              <a:rPr lang="ko-KR" altLang="en-US" sz="1200" dirty="0">
                <a:solidFill>
                  <a:srgbClr val="FF000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 걸릴 수 있는데</a:t>
            </a:r>
            <a:r>
              <a:rPr lang="en-US" altLang="ko-KR" sz="1200" dirty="0">
                <a:solidFill>
                  <a:srgbClr val="FF000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반복 클릭 시 예기치 못한 버그가 발생할 수 있으니 최초 클릭 후 기다려 주시면 됩니다</a:t>
            </a:r>
            <a:r>
              <a:rPr lang="en-US" altLang="ko-KR" sz="1200" dirty="0">
                <a:solidFill>
                  <a:srgbClr val="FF000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.</a:t>
            </a: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)</a:t>
            </a:r>
          </a:p>
          <a:p>
            <a:pPr>
              <a:lnSpc>
                <a:spcPct val="125000"/>
              </a:lnSpc>
              <a:defRPr/>
            </a:pPr>
            <a:endParaRPr lang="en-US" altLang="ko-KR" sz="1200" b="1" dirty="0">
              <a:solidFill>
                <a:srgbClr val="1E50A0"/>
              </a:solidFill>
              <a:latin typeface="Noto Sans SC"/>
              <a:ea typeface="현대하모니 M" panose="02020603020101020101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  <a:defRPr/>
            </a:pPr>
            <a:endParaRPr lang="en-US" altLang="ko-KR" sz="1200" b="1" dirty="0">
              <a:solidFill>
                <a:srgbClr val="1E50A0"/>
              </a:solidFill>
              <a:latin typeface="Noto Sans SC"/>
              <a:ea typeface="현대하모니 M" panose="02020603020101020101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  <a:defRPr/>
            </a:pPr>
            <a:br>
              <a:rPr lang="en-US" altLang="ko-KR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</a:br>
            <a:br>
              <a:rPr lang="en-US" altLang="ko-KR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</a:br>
            <a:br>
              <a:rPr lang="en-US" altLang="ko-KR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</a:br>
            <a:endParaRPr lang="en-US" altLang="ko-KR" sz="1200" b="1" dirty="0">
              <a:solidFill>
                <a:srgbClr val="1E50A0"/>
              </a:solidFill>
              <a:latin typeface="Noto Sans SC"/>
              <a:ea typeface="현대하모니 M" panose="02020603020101020101"/>
              <a:cs typeface="Noto Sans SC"/>
              <a:sym typeface="Noto Sans SC"/>
            </a:endParaRPr>
          </a:p>
          <a:p>
            <a:pPr marL="285750" indent="-285750">
              <a:lnSpc>
                <a:spcPct val="125000"/>
              </a:lnSpc>
              <a:buFontTx/>
              <a:buChar char="-"/>
              <a:defRPr/>
            </a:pPr>
            <a:endParaRPr lang="en-US" altLang="ko-KR" sz="1200" b="1" dirty="0">
              <a:solidFill>
                <a:srgbClr val="1E50A0"/>
              </a:solidFill>
              <a:latin typeface="Noto Sans SC"/>
              <a:ea typeface="현대하모니 M" panose="02020603020101020101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ko-KR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8</a:t>
            </a:r>
            <a:r>
              <a:rPr lang="ko-KR" altLang="en-US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번 </a:t>
            </a:r>
            <a:r>
              <a:rPr lang="en-US" altLang="ko-KR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(</a:t>
            </a:r>
            <a:r>
              <a:rPr lang="ko-KR" altLang="en-US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등각 적재도</a:t>
            </a:r>
            <a:r>
              <a:rPr lang="en-US" altLang="ko-KR" sz="1200" b="1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)</a:t>
            </a:r>
          </a:p>
          <a:p>
            <a:pPr marL="285750" indent="-285750">
              <a:lnSpc>
                <a:spcPct val="125000"/>
              </a:lnSpc>
              <a:buFontTx/>
              <a:buChar char="-"/>
              <a:defRPr/>
            </a:pPr>
            <a:r>
              <a:rPr lang="en-US" altLang="ko-KR" sz="1200" dirty="0" err="1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Packing_result_sheet</a:t>
            </a: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.</a:t>
            </a:r>
            <a:r>
              <a:rPr lang="ko-KR" altLang="en-US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 </a:t>
            </a:r>
            <a:r>
              <a:rPr lang="en-US" altLang="ko-KR" sz="1200" dirty="0" err="1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png</a:t>
            </a: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(</a:t>
            </a:r>
            <a:r>
              <a:rPr lang="ko-KR" altLang="en-US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그림파일</a:t>
            </a: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)</a:t>
            </a:r>
            <a:r>
              <a:rPr lang="ko-KR" altLang="en-US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로 저장이 되며</a:t>
            </a: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, </a:t>
            </a:r>
            <a:r>
              <a:rPr lang="ko-KR" altLang="en-US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필요 시 출력하여 담당자에게 전달 가능합니다</a:t>
            </a:r>
            <a:r>
              <a:rPr lang="en-US" altLang="ko-KR" sz="1200" dirty="0">
                <a:solidFill>
                  <a:srgbClr val="1E50A0"/>
                </a:solidFill>
                <a:latin typeface="Noto Sans SC"/>
                <a:ea typeface="현대하모니 M" panose="02020603020101020101"/>
                <a:cs typeface="Noto Sans SC"/>
                <a:sym typeface="Noto Sans SC"/>
              </a:rPr>
              <a:t>.</a:t>
            </a:r>
          </a:p>
          <a:p>
            <a:pPr>
              <a:lnSpc>
                <a:spcPct val="125000"/>
              </a:lnSpc>
              <a:defRPr/>
            </a:pPr>
            <a:endParaRPr lang="en-US" altLang="ko-KR" sz="1400" b="1" dirty="0">
              <a:solidFill>
                <a:srgbClr val="1E50A0"/>
              </a:solidFill>
              <a:latin typeface="Noto Sans SC"/>
              <a:ea typeface="현대하모니 M" panose="02020603020101020101"/>
              <a:cs typeface="Noto Sans SC"/>
              <a:sym typeface="Noto Sans SC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19BA7D3-1F12-494E-BD48-42FBBFCFB84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160" y="1160748"/>
            <a:ext cx="5994000" cy="85737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232444D3-6D15-4FD4-BFBB-CF3A532582C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160" y="2978071"/>
            <a:ext cx="5994000" cy="2971209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36B9CD6C-0B6F-4914-862C-6EB0FF2ED365}"/>
              </a:ext>
            </a:extLst>
          </p:cNvPr>
          <p:cNvSpPr/>
          <p:nvPr/>
        </p:nvSpPr>
        <p:spPr>
          <a:xfrm>
            <a:off x="471289" y="1584092"/>
            <a:ext cx="881311" cy="360040"/>
          </a:xfrm>
          <a:prstGeom prst="rect">
            <a:avLst/>
          </a:prstGeom>
          <a:noFill/>
          <a:ln w="28575">
            <a:solidFill>
              <a:srgbClr val="66FF33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E90FDED-8BAC-4CFD-882D-33A2D0DA821B}"/>
              </a:ext>
            </a:extLst>
          </p:cNvPr>
          <p:cNvSpPr/>
          <p:nvPr/>
        </p:nvSpPr>
        <p:spPr>
          <a:xfrm>
            <a:off x="399160" y="3274590"/>
            <a:ext cx="5525948" cy="2674690"/>
          </a:xfrm>
          <a:prstGeom prst="rect">
            <a:avLst/>
          </a:prstGeom>
          <a:noFill/>
          <a:ln w="28575">
            <a:solidFill>
              <a:srgbClr val="66FF33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E91682D3-E2C2-478A-A94A-324B881D42DF}"/>
              </a:ext>
            </a:extLst>
          </p:cNvPr>
          <p:cNvSpPr/>
          <p:nvPr/>
        </p:nvSpPr>
        <p:spPr>
          <a:xfrm>
            <a:off x="1424729" y="1456504"/>
            <a:ext cx="288032" cy="288147"/>
          </a:xfrm>
          <a:prstGeom prst="ellipse">
            <a:avLst/>
          </a:prstGeom>
          <a:noFill/>
          <a:ln w="9525">
            <a:solidFill>
              <a:srgbClr val="66FF33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09AE21-A4CF-4EF9-820A-397CB4778D88}"/>
              </a:ext>
            </a:extLst>
          </p:cNvPr>
          <p:cNvSpPr txBox="1"/>
          <p:nvPr/>
        </p:nvSpPr>
        <p:spPr>
          <a:xfrm>
            <a:off x="1424729" y="1475965"/>
            <a:ext cx="288032" cy="288147"/>
          </a:xfrm>
          <a:prstGeom prst="rect">
            <a:avLst/>
          </a:prstGeom>
          <a:noFill/>
        </p:spPr>
        <p:txBody>
          <a:bodyPr wrap="square" lIns="108000" tIns="36000" rIns="108000" bIns="36000" rtlCol="0">
            <a:spAutoFit/>
          </a:bodyPr>
          <a:lstStyle/>
          <a:p>
            <a:r>
              <a:rPr lang="en-US" altLang="ko-KR" sz="1400" dirty="0">
                <a:solidFill>
                  <a:srgbClr val="66FF33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7</a:t>
            </a:r>
            <a:endParaRPr lang="ko-KR" altLang="en-US" sz="1400" dirty="0" err="1">
              <a:solidFill>
                <a:srgbClr val="66FF33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47B35193-A605-4032-B82A-C68BB52CDDAA}"/>
              </a:ext>
            </a:extLst>
          </p:cNvPr>
          <p:cNvSpPr/>
          <p:nvPr/>
        </p:nvSpPr>
        <p:spPr>
          <a:xfrm>
            <a:off x="5984289" y="3130516"/>
            <a:ext cx="288032" cy="288147"/>
          </a:xfrm>
          <a:prstGeom prst="ellipse">
            <a:avLst/>
          </a:prstGeom>
          <a:noFill/>
          <a:ln w="9525">
            <a:solidFill>
              <a:srgbClr val="66FF33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64B763-6E95-4CF1-A10F-17A14424A574}"/>
              </a:ext>
            </a:extLst>
          </p:cNvPr>
          <p:cNvSpPr txBox="1"/>
          <p:nvPr/>
        </p:nvSpPr>
        <p:spPr>
          <a:xfrm>
            <a:off x="5984289" y="3130516"/>
            <a:ext cx="288032" cy="288147"/>
          </a:xfrm>
          <a:prstGeom prst="rect">
            <a:avLst/>
          </a:prstGeom>
          <a:noFill/>
        </p:spPr>
        <p:txBody>
          <a:bodyPr wrap="square" lIns="108000" tIns="36000" rIns="108000" bIns="36000" rtlCol="0">
            <a:spAutoFit/>
          </a:bodyPr>
          <a:lstStyle/>
          <a:p>
            <a:r>
              <a:rPr lang="en-US" altLang="ko-KR" sz="1400" dirty="0">
                <a:solidFill>
                  <a:srgbClr val="66FF33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8</a:t>
            </a:r>
            <a:endParaRPr lang="ko-KR" altLang="en-US" sz="1400" dirty="0" err="1">
              <a:solidFill>
                <a:srgbClr val="66FF33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5">
            <a:extLst>
              <a:ext uri="{FF2B5EF4-FFF2-40B4-BE49-F238E27FC236}">
                <a16:creationId xmlns:a16="http://schemas.microsoft.com/office/drawing/2014/main" id="{3D2E81E8-62E5-4A9D-A250-3C218C9C26E4}"/>
              </a:ext>
            </a:extLst>
          </p:cNvPr>
          <p:cNvSpPr/>
          <p:nvPr/>
        </p:nvSpPr>
        <p:spPr>
          <a:xfrm>
            <a:off x="308484" y="944724"/>
            <a:ext cx="9289032" cy="5256584"/>
          </a:xfrm>
          <a:prstGeom prst="roundRect">
            <a:avLst>
              <a:gd name="adj" fmla="val 1081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B4B4B4">
                <a:alpha val="100000"/>
              </a:srgbClr>
            </a:solidFill>
            <a:prstDash val="dash"/>
            <a:round/>
          </a:ln>
        </p:spPr>
        <p:txBody>
          <a:bodyPr vert="horz" wrap="square" lIns="51594" tIns="51594" rIns="51594" bIns="51594" rtlCol="0" anchor="ctr"/>
          <a:lstStyle/>
          <a:p>
            <a:pPr algn="ctr">
              <a:defRPr/>
            </a:pPr>
            <a:endParaRPr sz="1463"/>
          </a:p>
        </p:txBody>
      </p:sp>
      <p:sp>
        <p:nvSpPr>
          <p:cNvPr id="6" name="AutoShape 6"/>
          <p:cNvSpPr txBox="1"/>
          <p:nvPr/>
        </p:nvSpPr>
        <p:spPr>
          <a:xfrm>
            <a:off x="416496" y="1052736"/>
            <a:ext cx="9109012" cy="525658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41666"/>
              </a:lnSpc>
              <a:defRPr/>
            </a:pPr>
            <a:r>
              <a:rPr lang="ko-KR" altLang="en-US" sz="1400" b="1" dirty="0">
                <a:ea typeface="현대하모니 M" panose="02020603020101020101"/>
              </a:rPr>
              <a:t>추가 알림 사항</a:t>
            </a:r>
            <a:endParaRPr lang="en-US" altLang="ko-KR" sz="1400" b="1" dirty="0">
              <a:ea typeface="현대하모니 M" panose="02020603020101020101"/>
            </a:endParaRPr>
          </a:p>
          <a:p>
            <a:pPr marL="171450" indent="-171450">
              <a:lnSpc>
                <a:spcPct val="141666"/>
              </a:lnSpc>
              <a:buFontTx/>
              <a:buChar char="-"/>
              <a:defRPr/>
            </a:pPr>
            <a:r>
              <a:rPr lang="en-US" altLang="ko-KR" sz="1200" dirty="0">
                <a:ea typeface="현대하모니 M" panose="02020603020101020101"/>
              </a:rPr>
              <a:t>1) </a:t>
            </a:r>
            <a:r>
              <a:rPr lang="ko-KR" altLang="en-US" sz="1200" dirty="0">
                <a:ea typeface="현대하모니 M" panose="02020603020101020101"/>
              </a:rPr>
              <a:t>웹이 장시간 사용되지 않으면 자동 절전 상태가 될 수 있습니다</a:t>
            </a:r>
            <a:r>
              <a:rPr lang="en-US" altLang="ko-KR" sz="1200" dirty="0">
                <a:ea typeface="현대하모니 M" panose="02020603020101020101"/>
              </a:rPr>
              <a:t>. </a:t>
            </a:r>
            <a:r>
              <a:rPr lang="ko-KR" altLang="en-US" sz="1200" dirty="0">
                <a:ea typeface="현대하모니 M" panose="02020603020101020101"/>
              </a:rPr>
              <a:t>접속 시 </a:t>
            </a:r>
            <a:r>
              <a:rPr lang="en-US" altLang="ko-KR" sz="1200" dirty="0">
                <a:solidFill>
                  <a:srgbClr val="FF0000"/>
                </a:solidFill>
                <a:ea typeface="현대하모니 M" panose="02020603020101020101"/>
              </a:rPr>
              <a:t>“Yes, get this app back up!”</a:t>
            </a:r>
            <a:r>
              <a:rPr lang="en-US" altLang="ko-KR" sz="1200" dirty="0">
                <a:ea typeface="현대하모니 M" panose="02020603020101020101"/>
              </a:rPr>
              <a:t> </a:t>
            </a:r>
            <a:r>
              <a:rPr lang="ko-KR" altLang="en-US" sz="1200" dirty="0">
                <a:ea typeface="현대하모니 M" panose="02020603020101020101"/>
              </a:rPr>
              <a:t>을 </a:t>
            </a:r>
            <a:r>
              <a:rPr lang="ko-KR" altLang="en-US" sz="1200" dirty="0" err="1">
                <a:ea typeface="현대하모니 M" panose="02020603020101020101"/>
              </a:rPr>
              <a:t>눌러주시면</a:t>
            </a:r>
            <a:r>
              <a:rPr lang="ko-KR" altLang="en-US" sz="1200" dirty="0">
                <a:ea typeface="현대하모니 M" panose="02020603020101020101"/>
              </a:rPr>
              <a:t> </a:t>
            </a:r>
            <a:r>
              <a:rPr lang="en-US" altLang="ko-KR" sz="1200" dirty="0">
                <a:ea typeface="현대하모니 M" panose="02020603020101020101"/>
              </a:rPr>
              <a:t>30</a:t>
            </a:r>
            <a:r>
              <a:rPr lang="ko-KR" altLang="en-US" sz="1200" dirty="0">
                <a:ea typeface="현대하모니 M" panose="02020603020101020101"/>
              </a:rPr>
              <a:t>초</a:t>
            </a:r>
            <a:r>
              <a:rPr lang="en-US" altLang="ko-KR" sz="1200" dirty="0">
                <a:ea typeface="현대하모니 M" panose="02020603020101020101"/>
              </a:rPr>
              <a:t>~1</a:t>
            </a:r>
            <a:r>
              <a:rPr lang="ko-KR" altLang="en-US" sz="1200" dirty="0">
                <a:ea typeface="현대하모니 M" panose="02020603020101020101"/>
              </a:rPr>
              <a:t>분 후 정상적인 이용이 가능합니다</a:t>
            </a:r>
            <a:r>
              <a:rPr lang="en-US" altLang="ko-KR" sz="1200" dirty="0">
                <a:ea typeface="현대하모니 M" panose="02020603020101020101"/>
              </a:rPr>
              <a:t>.</a:t>
            </a:r>
            <a:br>
              <a:rPr lang="en-US" altLang="ko-KR" sz="1200" dirty="0">
                <a:ea typeface="현대하모니 M" panose="02020603020101020101"/>
              </a:rPr>
            </a:br>
            <a:endParaRPr lang="en-US" altLang="ko-KR" sz="1200" dirty="0">
              <a:ea typeface="현대하모니 M" panose="02020603020101020101"/>
            </a:endParaRPr>
          </a:p>
          <a:p>
            <a:pPr marL="171450" indent="-171450">
              <a:lnSpc>
                <a:spcPct val="141666"/>
              </a:lnSpc>
              <a:buFontTx/>
              <a:buChar char="-"/>
              <a:defRPr/>
            </a:pPr>
            <a:r>
              <a:rPr lang="en-US" altLang="ko-KR" sz="1200" dirty="0">
                <a:ea typeface="현대하모니 M" panose="02020603020101020101"/>
              </a:rPr>
              <a:t>2) </a:t>
            </a:r>
            <a:r>
              <a:rPr lang="ko-KR" altLang="en-US" sz="1200" dirty="0">
                <a:ea typeface="현대하모니 M" panose="02020603020101020101"/>
              </a:rPr>
              <a:t>웹 서버 환경 최적화가 덜 진행 되어서</a:t>
            </a:r>
            <a:r>
              <a:rPr lang="en-US" altLang="ko-KR" sz="1200" dirty="0">
                <a:ea typeface="현대하모니 M" panose="02020603020101020101"/>
              </a:rPr>
              <a:t>, </a:t>
            </a:r>
            <a:r>
              <a:rPr lang="ko-KR" altLang="en-US" sz="1200" dirty="0">
                <a:ea typeface="현대하모니 M" panose="02020603020101020101"/>
              </a:rPr>
              <a:t>사용 중 </a:t>
            </a:r>
            <a:r>
              <a:rPr lang="ko-KR" altLang="en-US" sz="1200" dirty="0">
                <a:solidFill>
                  <a:srgbClr val="FF0000"/>
                </a:solidFill>
                <a:ea typeface="현대하모니 M" panose="02020603020101020101"/>
              </a:rPr>
              <a:t>프로그램이 갑자기 죽거나 응답하지 않는다는 경고 메시지</a:t>
            </a:r>
            <a:r>
              <a:rPr lang="en-US" altLang="ko-KR" sz="1200" dirty="0">
                <a:solidFill>
                  <a:srgbClr val="FF0000"/>
                </a:solidFill>
                <a:ea typeface="현대하모니 M" panose="02020603020101020101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ea typeface="현대하모니 M" panose="02020603020101020101"/>
              </a:rPr>
              <a:t>혹은 예기치 못한 버그가 나타날</a:t>
            </a:r>
            <a:r>
              <a:rPr lang="ko-KR" altLang="en-US" sz="1200" dirty="0">
                <a:ea typeface="현대하모니 M" panose="02020603020101020101"/>
              </a:rPr>
              <a:t> </a:t>
            </a:r>
            <a:r>
              <a:rPr lang="ko-KR" altLang="en-US" sz="1200" dirty="0">
                <a:solidFill>
                  <a:srgbClr val="FF0000"/>
                </a:solidFill>
                <a:ea typeface="현대하모니 M" panose="02020603020101020101"/>
              </a:rPr>
              <a:t>수도</a:t>
            </a:r>
            <a:r>
              <a:rPr lang="ko-KR" altLang="en-US" sz="1200" dirty="0">
                <a:ea typeface="현대하모니 M" panose="02020603020101020101"/>
              </a:rPr>
              <a:t> 있습니다</a:t>
            </a:r>
            <a:r>
              <a:rPr lang="en-US" altLang="ko-KR" sz="1200" dirty="0">
                <a:ea typeface="현대하모니 M" panose="02020603020101020101"/>
              </a:rPr>
              <a:t>. </a:t>
            </a:r>
            <a:r>
              <a:rPr lang="ko-KR" altLang="en-US" sz="1200" dirty="0">
                <a:ea typeface="현대하모니 M" panose="02020603020101020101"/>
              </a:rPr>
              <a:t>해당 문제의 경우 </a:t>
            </a:r>
            <a:r>
              <a:rPr lang="en-US" altLang="ko-KR" sz="1200" dirty="0">
                <a:ea typeface="현대하모니 M" panose="02020603020101020101"/>
              </a:rPr>
              <a:t>Teams</a:t>
            </a:r>
            <a:r>
              <a:rPr lang="ko-KR" altLang="en-US" sz="1200" dirty="0">
                <a:ea typeface="현대하모니 M" panose="02020603020101020101"/>
              </a:rPr>
              <a:t>나 </a:t>
            </a:r>
            <a:r>
              <a:rPr lang="en-US" altLang="ko-KR" sz="1200" dirty="0">
                <a:ea typeface="현대하모니 M" panose="02020603020101020101"/>
              </a:rPr>
              <a:t>Outlook</a:t>
            </a:r>
            <a:r>
              <a:rPr lang="ko-KR" altLang="en-US" sz="1200" dirty="0">
                <a:ea typeface="현대하모니 M" panose="02020603020101020101"/>
              </a:rPr>
              <a:t>을 통해 문제 화면 캡쳐와 문제 사항을 보내주시면 감사하겠습니다</a:t>
            </a:r>
            <a:r>
              <a:rPr lang="en-US" altLang="ko-KR" sz="1200" dirty="0">
                <a:ea typeface="현대하모니 M" panose="02020603020101020101"/>
              </a:rPr>
              <a:t>.</a:t>
            </a:r>
            <a:br>
              <a:rPr lang="en-US" altLang="ko-KR" sz="1200" dirty="0">
                <a:ea typeface="현대하모니 M" panose="02020603020101020101"/>
              </a:rPr>
            </a:br>
            <a:r>
              <a:rPr lang="en-US" altLang="ko-KR" sz="1200" dirty="0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ko-KR" altLang="en-US" sz="1200" dirty="0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전현규</a:t>
            </a:r>
            <a:r>
              <a:rPr lang="en-US" altLang="ko-KR" sz="1200" dirty="0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 / hyeongyu.jeon@slworld.com / 010-5918-6984)</a:t>
            </a:r>
          </a:p>
          <a:p>
            <a:pPr marL="171450" indent="-171450">
              <a:lnSpc>
                <a:spcPct val="141666"/>
              </a:lnSpc>
              <a:buFontTx/>
              <a:buChar char="-"/>
              <a:defRPr/>
            </a:pPr>
            <a:endParaRPr lang="en-US" altLang="ko-KR" sz="1200" dirty="0">
              <a:ea typeface="현대하모니 M" panose="02020603020101020101"/>
            </a:endParaRPr>
          </a:p>
          <a:p>
            <a:pPr marL="171450" indent="-171450">
              <a:lnSpc>
                <a:spcPct val="141666"/>
              </a:lnSpc>
              <a:buFontTx/>
              <a:buChar char="-"/>
              <a:defRPr/>
            </a:pPr>
            <a:r>
              <a:rPr lang="en-US" altLang="ko-KR" sz="1200" dirty="0">
                <a:ea typeface="현대하모니 M" panose="02020603020101020101"/>
              </a:rPr>
              <a:t>3) </a:t>
            </a:r>
            <a:r>
              <a:rPr lang="ko-KR" altLang="en-US" sz="1200" dirty="0">
                <a:ea typeface="현대하모니 M" panose="02020603020101020101"/>
              </a:rPr>
              <a:t>또한 </a:t>
            </a:r>
            <a:r>
              <a:rPr lang="ko-KR" altLang="en-US" sz="1200" dirty="0">
                <a:solidFill>
                  <a:srgbClr val="FF0000"/>
                </a:solidFill>
                <a:ea typeface="현대하모니 M" panose="02020603020101020101"/>
              </a:rPr>
              <a:t>사용 중 불편 사항 혹은 추가 희망 기능</a:t>
            </a:r>
            <a:r>
              <a:rPr lang="ko-KR" altLang="en-US" sz="1200" dirty="0">
                <a:ea typeface="현대하모니 M" panose="02020603020101020101"/>
              </a:rPr>
              <a:t>이 있으시면 동일하게 </a:t>
            </a:r>
            <a:r>
              <a:rPr lang="en-US" altLang="ko-KR" sz="1200" dirty="0">
                <a:ea typeface="현대하모니 M" panose="02020603020101020101"/>
              </a:rPr>
              <a:t>Teams</a:t>
            </a:r>
            <a:r>
              <a:rPr lang="ko-KR" altLang="en-US" sz="1200" dirty="0">
                <a:ea typeface="현대하모니 M" panose="02020603020101020101"/>
              </a:rPr>
              <a:t>와 </a:t>
            </a:r>
            <a:r>
              <a:rPr lang="en-US" altLang="ko-KR" sz="1200" dirty="0">
                <a:ea typeface="현대하모니 M" panose="02020603020101020101"/>
              </a:rPr>
              <a:t>Outlook</a:t>
            </a:r>
            <a:r>
              <a:rPr lang="ko-KR" altLang="en-US" sz="1200" dirty="0">
                <a:ea typeface="현대하모니 M" panose="02020603020101020101"/>
              </a:rPr>
              <a:t>을 통해 말씀해 주시면 반영하겠습니다</a:t>
            </a:r>
            <a:r>
              <a:rPr lang="en-US" altLang="ko-KR" sz="1200" dirty="0">
                <a:ea typeface="현대하모니 M" panose="02020603020101020101"/>
              </a:rPr>
              <a:t>.</a:t>
            </a:r>
            <a:br>
              <a:rPr lang="en-US" altLang="ko-KR" sz="1200" dirty="0">
                <a:ea typeface="현대하모니 M" panose="02020603020101020101"/>
              </a:rPr>
            </a:br>
            <a:endParaRPr lang="en-US" altLang="ko-KR" sz="1400" b="1" dirty="0">
              <a:ea typeface="현대하모니 M" panose="02020603020101020101"/>
            </a:endParaRPr>
          </a:p>
          <a:p>
            <a:pPr>
              <a:lnSpc>
                <a:spcPct val="141666"/>
              </a:lnSpc>
              <a:defRPr/>
            </a:pPr>
            <a:r>
              <a:rPr lang="ko-KR" altLang="en-US" sz="1400" b="1" dirty="0">
                <a:ea typeface="현대하모니 M" panose="02020603020101020101"/>
              </a:rPr>
              <a:t>후속 업데이트</a:t>
            </a:r>
            <a:endParaRPr lang="en-US" altLang="ko-KR" sz="1400" b="1" dirty="0">
              <a:ea typeface="현대하모니 M" panose="02020603020101020101"/>
            </a:endParaRPr>
          </a:p>
          <a:p>
            <a:pPr marL="171450" indent="-171450">
              <a:lnSpc>
                <a:spcPct val="141666"/>
              </a:lnSpc>
              <a:buFontTx/>
              <a:buChar char="-"/>
              <a:defRPr/>
            </a:pPr>
            <a:r>
              <a:rPr lang="en-US" altLang="ko-KR" sz="1200" dirty="0">
                <a:ea typeface="현대하모니 M" panose="02020603020101020101"/>
              </a:rPr>
              <a:t>1) </a:t>
            </a:r>
            <a:r>
              <a:rPr lang="ko-KR" altLang="en-US" sz="1200" dirty="0">
                <a:ea typeface="현대하모니 M" panose="02020603020101020101"/>
              </a:rPr>
              <a:t>현재 패킹 알고리즘이 완전하지 않아</a:t>
            </a:r>
            <a:r>
              <a:rPr lang="en-US" altLang="ko-KR" sz="1200" dirty="0">
                <a:ea typeface="현대하모니 M" panose="02020603020101020101"/>
              </a:rPr>
              <a:t>, </a:t>
            </a:r>
            <a:r>
              <a:rPr lang="ko-KR" altLang="en-US" sz="1200" dirty="0">
                <a:ea typeface="현대하모니 M" panose="02020603020101020101"/>
              </a:rPr>
              <a:t>부품을 효율적으로 </a:t>
            </a:r>
            <a:r>
              <a:rPr lang="ko-KR" altLang="en-US" sz="1200" dirty="0" err="1">
                <a:ea typeface="현대하모니 M" panose="02020603020101020101"/>
              </a:rPr>
              <a:t>패킹하지</a:t>
            </a:r>
            <a:r>
              <a:rPr lang="ko-KR" altLang="en-US" sz="1200" dirty="0">
                <a:ea typeface="현대하모니 M" panose="02020603020101020101"/>
              </a:rPr>
              <a:t> 못하고 있습니다</a:t>
            </a:r>
            <a:r>
              <a:rPr lang="en-US" altLang="ko-KR" sz="1200" dirty="0">
                <a:ea typeface="현대하모니 M" panose="02020603020101020101"/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  <a:ea typeface="현대하모니 M" panose="02020603020101020101"/>
              </a:rPr>
              <a:t>패킹 최적화 알고리즘</a:t>
            </a:r>
            <a:r>
              <a:rPr lang="ko-KR" altLang="en-US" sz="1200" dirty="0">
                <a:ea typeface="현대하모니 M" panose="02020603020101020101"/>
              </a:rPr>
              <a:t>을 지속적으로 업데이트 할 예정입니다</a:t>
            </a:r>
            <a:r>
              <a:rPr lang="en-US" altLang="ko-KR" sz="1200" dirty="0">
                <a:ea typeface="현대하모니 M" panose="02020603020101020101"/>
              </a:rPr>
              <a:t>.(~11</a:t>
            </a:r>
            <a:r>
              <a:rPr lang="ko-KR" altLang="en-US" sz="1200" dirty="0">
                <a:ea typeface="현대하모니 M" panose="02020603020101020101"/>
              </a:rPr>
              <a:t>월 </a:t>
            </a:r>
            <a:r>
              <a:rPr lang="en-US" altLang="ko-KR" sz="1200" dirty="0">
                <a:ea typeface="현대하모니 M" panose="02020603020101020101"/>
              </a:rPr>
              <a:t>13</a:t>
            </a:r>
            <a:r>
              <a:rPr lang="ko-KR" altLang="en-US" sz="1200" dirty="0">
                <a:ea typeface="현대하모니 M" panose="02020603020101020101"/>
              </a:rPr>
              <a:t>일</a:t>
            </a:r>
            <a:r>
              <a:rPr lang="en-US" altLang="ko-KR" sz="1200" dirty="0">
                <a:ea typeface="현대하모니 M" panose="02020603020101020101"/>
              </a:rPr>
              <a:t>)</a:t>
            </a:r>
            <a:br>
              <a:rPr lang="en-US" altLang="ko-KR" sz="1200" dirty="0">
                <a:ea typeface="현대하모니 M" panose="02020603020101020101"/>
              </a:rPr>
            </a:br>
            <a:endParaRPr lang="en-US" altLang="ko-KR" sz="1200" dirty="0">
              <a:ea typeface="현대하모니 M" panose="02020603020101020101"/>
            </a:endParaRPr>
          </a:p>
          <a:p>
            <a:pPr marL="171450" indent="-171450">
              <a:lnSpc>
                <a:spcPct val="141666"/>
              </a:lnSpc>
              <a:buFontTx/>
              <a:buChar char="-"/>
              <a:defRPr/>
            </a:pPr>
            <a:r>
              <a:rPr lang="en-US" sz="1200" dirty="0">
                <a:ea typeface="현대하모니 M" panose="02020603020101020101"/>
              </a:rPr>
              <a:t>2)</a:t>
            </a:r>
            <a:r>
              <a:rPr lang="ko-KR" altLang="en-US" sz="1200" dirty="0">
                <a:ea typeface="현대하모니 M" panose="02020603020101020101"/>
              </a:rPr>
              <a:t> 총 적재 무게</a:t>
            </a:r>
            <a:r>
              <a:rPr lang="en-US" altLang="ko-KR" sz="1200" dirty="0">
                <a:ea typeface="현대하모니 M" panose="02020603020101020101"/>
              </a:rPr>
              <a:t>(gross weight)</a:t>
            </a:r>
            <a:r>
              <a:rPr lang="ko-KR" altLang="en-US" sz="1200" dirty="0">
                <a:ea typeface="현대하모니 M" panose="02020603020101020101"/>
              </a:rPr>
              <a:t> 계산 시 박스 자체 중량이 반영되지 않았습니다</a:t>
            </a:r>
            <a:r>
              <a:rPr lang="en-US" altLang="ko-KR" sz="1200" dirty="0">
                <a:ea typeface="현대하모니 M" panose="02020603020101020101"/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  <a:ea typeface="현대하모니 M" panose="02020603020101020101"/>
              </a:rPr>
              <a:t>박스 사이즈 별 중량이</a:t>
            </a:r>
            <a:r>
              <a:rPr lang="en-US" altLang="ko-KR" sz="1200" dirty="0">
                <a:solidFill>
                  <a:srgbClr val="FF0000"/>
                </a:solidFill>
                <a:ea typeface="현대하모니 M" panose="02020603020101020101"/>
              </a:rPr>
              <a:t> </a:t>
            </a:r>
            <a:r>
              <a:rPr lang="ko-KR" altLang="en-US" sz="1200" dirty="0">
                <a:solidFill>
                  <a:srgbClr val="FF0000"/>
                </a:solidFill>
                <a:ea typeface="현대하모니 M" panose="02020603020101020101"/>
              </a:rPr>
              <a:t>반영</a:t>
            </a:r>
            <a:r>
              <a:rPr lang="ko-KR" altLang="en-US" sz="1200" dirty="0">
                <a:ea typeface="현대하모니 M" panose="02020603020101020101"/>
              </a:rPr>
              <a:t>되도록 업데이트 하겠습니다</a:t>
            </a:r>
            <a:r>
              <a:rPr lang="en-US" altLang="ko-KR" sz="1200" dirty="0">
                <a:ea typeface="현대하모니 M" panose="02020603020101020101"/>
              </a:rPr>
              <a:t>.(~11</a:t>
            </a:r>
            <a:r>
              <a:rPr lang="ko-KR" altLang="en-US" sz="1200" dirty="0">
                <a:ea typeface="현대하모니 M" panose="02020603020101020101"/>
              </a:rPr>
              <a:t>월 </a:t>
            </a:r>
            <a:r>
              <a:rPr lang="en-US" altLang="ko-KR" sz="1200" dirty="0">
                <a:ea typeface="현대하모니 M" panose="02020603020101020101"/>
              </a:rPr>
              <a:t>13</a:t>
            </a:r>
            <a:r>
              <a:rPr lang="ko-KR" altLang="en-US" sz="1200" dirty="0">
                <a:ea typeface="현대하모니 M" panose="02020603020101020101"/>
              </a:rPr>
              <a:t>일</a:t>
            </a:r>
            <a:r>
              <a:rPr lang="en-US" altLang="ko-KR" sz="1200" dirty="0">
                <a:ea typeface="현대하모니 M" panose="02020603020101020101"/>
              </a:rPr>
              <a:t>)</a:t>
            </a:r>
            <a:br>
              <a:rPr lang="en-US" altLang="ko-KR" sz="1200" dirty="0">
                <a:ea typeface="현대하모니 M" panose="02020603020101020101"/>
              </a:rPr>
            </a:br>
            <a:endParaRPr lang="en-US" altLang="ko-KR" sz="1200" dirty="0">
              <a:ea typeface="현대하모니 M" panose="02020603020101020101"/>
            </a:endParaRPr>
          </a:p>
          <a:p>
            <a:pPr marL="171450" indent="-171450">
              <a:lnSpc>
                <a:spcPct val="141666"/>
              </a:lnSpc>
              <a:buFontTx/>
              <a:buChar char="-"/>
              <a:defRPr/>
            </a:pPr>
            <a:r>
              <a:rPr lang="en-US" sz="1200" dirty="0">
                <a:ea typeface="현대하모니 M" panose="02020603020101020101"/>
              </a:rPr>
              <a:t>3) </a:t>
            </a:r>
            <a:r>
              <a:rPr lang="ko-KR" altLang="en-US" sz="1200" dirty="0" err="1">
                <a:ea typeface="현대하모니 M" panose="02020603020101020101"/>
              </a:rPr>
              <a:t>운임비</a:t>
            </a:r>
            <a:r>
              <a:rPr lang="ko-KR" altLang="en-US" sz="1200" dirty="0">
                <a:ea typeface="현대하모니 M" panose="02020603020101020101"/>
              </a:rPr>
              <a:t> 계산 사이트</a:t>
            </a:r>
            <a:r>
              <a:rPr lang="en-US" altLang="ko-KR" sz="1200" dirty="0">
                <a:ea typeface="현대하모니 M" panose="02020603020101020101"/>
              </a:rPr>
              <a:t>(FedEx)</a:t>
            </a:r>
            <a:r>
              <a:rPr lang="ko-KR" altLang="en-US" sz="1200" dirty="0">
                <a:ea typeface="현대하모니 M" panose="02020603020101020101"/>
              </a:rPr>
              <a:t>와 연동하여 </a:t>
            </a:r>
            <a:r>
              <a:rPr lang="ko-KR" altLang="en-US" sz="1200" dirty="0">
                <a:solidFill>
                  <a:srgbClr val="FF0000"/>
                </a:solidFill>
                <a:ea typeface="현대하모니 M" panose="02020603020101020101"/>
              </a:rPr>
              <a:t>계산 직후 사이트 이동을 간편하게 하는 기능</a:t>
            </a:r>
            <a:r>
              <a:rPr lang="ko-KR" altLang="en-US" sz="1200" dirty="0">
                <a:ea typeface="현대하모니 M" panose="02020603020101020101"/>
              </a:rPr>
              <a:t> 추가 및 메뉴얼 재배포하겠습니다</a:t>
            </a:r>
            <a:r>
              <a:rPr lang="en-US" altLang="ko-KR" sz="1200" dirty="0">
                <a:ea typeface="현대하모니 M" panose="02020603020101020101"/>
              </a:rPr>
              <a:t>.(~11</a:t>
            </a:r>
            <a:r>
              <a:rPr lang="ko-KR" altLang="en-US" sz="1200" dirty="0">
                <a:ea typeface="현대하모니 M" panose="02020603020101020101"/>
              </a:rPr>
              <a:t>월 </a:t>
            </a:r>
            <a:r>
              <a:rPr lang="en-US" altLang="ko-KR" sz="1200" dirty="0">
                <a:ea typeface="현대하모니 M" panose="02020603020101020101"/>
              </a:rPr>
              <a:t>13</a:t>
            </a:r>
            <a:r>
              <a:rPr lang="ko-KR" altLang="en-US" sz="1200" dirty="0">
                <a:ea typeface="현대하모니 M" panose="02020603020101020101"/>
              </a:rPr>
              <a:t>일</a:t>
            </a:r>
            <a:r>
              <a:rPr lang="en-US" altLang="ko-KR" sz="1200" dirty="0">
                <a:ea typeface="현대하모니 M" panose="02020603020101020101"/>
              </a:rPr>
              <a:t>)</a:t>
            </a:r>
            <a:endParaRPr lang="en-US" sz="1200" dirty="0">
              <a:ea typeface="현대하모니 M" panose="02020603020101020101"/>
            </a:endParaRPr>
          </a:p>
          <a:p>
            <a:pPr>
              <a:lnSpc>
                <a:spcPct val="141666"/>
              </a:lnSpc>
            </a:pPr>
            <a:endParaRPr lang="en-US" sz="1056" dirty="0">
              <a:solidFill>
                <a:srgbClr val="9696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4FFF73-54ED-48E8-A8A4-BA25992098CE}"/>
              </a:ext>
            </a:extLst>
          </p:cNvPr>
          <p:cNvSpPr txBox="1"/>
          <p:nvPr/>
        </p:nvSpPr>
        <p:spPr>
          <a:xfrm>
            <a:off x="308484" y="111521"/>
            <a:ext cx="8048625" cy="4540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ko-KR" altLang="en-US" sz="2113" b="1" dirty="0">
                <a:solidFill>
                  <a:srgbClr val="141414"/>
                </a:solidFill>
                <a:latin typeface="Noto Sans SC"/>
                <a:sym typeface="Noto Sans SC"/>
              </a:rPr>
              <a:t>추가 알림 사항 및 후속 업데이트 예정</a:t>
            </a:r>
            <a:endParaRPr lang="en-US" altLang="ko-KR" sz="89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bg1">
              <a:lumMod val="65000"/>
            </a:schemeClr>
          </a:solidFill>
        </a:ln>
        <a:effectLst>
          <a:outerShdw blurRad="50800" dist="25400" dir="2700000" algn="tl" rotWithShape="0">
            <a:prstClr val="black">
              <a:alpha val="40000"/>
            </a:prstClr>
          </a:outerShdw>
        </a:effectLst>
      </a:spPr>
      <a:bodyPr lIns="108000" tIns="36000" rIns="108000" bIns="36000" rtlCol="0" anchor="ctr"/>
      <a:lstStyle>
        <a:defPPr algn="ctr">
          <a:defRPr sz="1400" dirty="0" smtClean="0">
            <a:solidFill>
              <a:schemeClr val="tx1"/>
            </a:solidFill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tailEnd type="triangle" w="med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108000" tIns="36000" rIns="108000" bIns="36000" rtlCol="0">
        <a:spAutoFit/>
      </a:bodyPr>
      <a:lstStyle>
        <a:defPPr>
          <a:defRPr sz="1400" dirty="0" err="1" smtClean="0">
            <a:solidFill>
              <a:schemeClr val="tx1"/>
            </a:solidFill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1169</Words>
  <Application>Microsoft Office PowerPoint</Application>
  <PresentationFormat>A4 용지(210x297mm)</PresentationFormat>
  <Paragraphs>120</Paragraphs>
  <Slides>8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Noto Sans SC</vt:lpstr>
      <vt:lpstr>맑은 고딕</vt:lpstr>
      <vt:lpstr>현대하모니 M</vt:lpstr>
      <vt:lpstr>Arial</vt:lpstr>
      <vt:lpstr>Office 테마</vt:lpstr>
      <vt:lpstr>Optimizing Packing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bealmighty</dc:creator>
  <cp:lastModifiedBy>Hyeongyu Jeon(전현규)[Proto Team]</cp:lastModifiedBy>
  <cp:revision>91</cp:revision>
  <dcterms:created xsi:type="dcterms:W3CDTF">2010-01-22T06:43:33Z</dcterms:created>
  <dcterms:modified xsi:type="dcterms:W3CDTF">2026-10-29T01:19:17Z</dcterms:modified>
</cp:coreProperties>
</file>